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bb46c58e234f40b5" Type="http://schemas.openxmlformats.org/officeDocument/2006/relationships/officeDocument" Target="ppt/presentation.xml"/><Relationship Id="Rcdcdc22aa97b4108" Type="http://schemas.openxmlformats.org/officeDocument/2006/relationships/extended-properties" Target="docProps/app.xml"/><Relationship Id="Rd9799e1409ee484d"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e51c74849a544739"/>
  </p:sldMasterIdLst>
  <p:notesMasterIdLst>
    <p:notesMasterId xmlns:r="http://schemas.openxmlformats.org/officeDocument/2006/relationships" r:id="Reb6a260156804058"/>
  </p:notesMasterIdLst>
  <p:sldIdLst>
    <p:sldId xmlns:r="http://schemas.openxmlformats.org/officeDocument/2006/relationships" id="256" r:id="Rd56df54aedd84612"/>
    <p:sldId xmlns:r="http://schemas.openxmlformats.org/officeDocument/2006/relationships" id="257" r:id="Rdca5d9a8808349dc"/>
    <p:sldId xmlns:r="http://schemas.openxmlformats.org/officeDocument/2006/relationships" id="258" r:id="R07496e5971fb4457"/>
    <p:sldId xmlns:r="http://schemas.openxmlformats.org/officeDocument/2006/relationships" id="259" r:id="Ra375e7575e3c41f2"/>
    <p:sldId xmlns:r="http://schemas.openxmlformats.org/officeDocument/2006/relationships" id="260" r:id="Rf017f51e4dc940fb"/>
    <p:sldId xmlns:r="http://schemas.openxmlformats.org/officeDocument/2006/relationships" id="261" r:id="Ra45acff0c49b4401"/>
    <p:sldId xmlns:r="http://schemas.openxmlformats.org/officeDocument/2006/relationships" id="262" r:id="R5692a519704b4503"/>
    <p:sldId xmlns:r="http://schemas.openxmlformats.org/officeDocument/2006/relationships" id="263" r:id="Rc532f6586b2c4e3d"/>
    <p:sldId xmlns:r="http://schemas.openxmlformats.org/officeDocument/2006/relationships" id="264" r:id="R5cd66410d5e8484d"/>
    <p:sldId xmlns:r="http://schemas.openxmlformats.org/officeDocument/2006/relationships" id="265" r:id="R74c6a764d76b4bf8"/>
    <p:sldId xmlns:r="http://schemas.openxmlformats.org/officeDocument/2006/relationships" id="266" r:id="R486cb27bd09c47bb"/>
    <p:sldId xmlns:r="http://schemas.openxmlformats.org/officeDocument/2006/relationships" id="267" r:id="R1927f271c2ff474f"/>
    <p:sldId xmlns:r="http://schemas.openxmlformats.org/officeDocument/2006/relationships" id="268" r:id="R1baff3bb534543f1"/>
    <p:sldId xmlns:r="http://schemas.openxmlformats.org/officeDocument/2006/relationships" id="269" r:id="R82554e0eb47d4686"/>
    <p:sldId xmlns:r="http://schemas.openxmlformats.org/officeDocument/2006/relationships" id="270" r:id="R7868f67e776842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7496e5971fb4457" Type="http://schemas.openxmlformats.org/officeDocument/2006/relationships/slide" Target="slides/slide3.xml"/><Relationship Id="R114069c3c3044c82" Type="http://schemas.openxmlformats.org/officeDocument/2006/relationships/theme" Target="theme/theme1.xml"/><Relationship Id="R1927f271c2ff474f" Type="http://schemas.openxmlformats.org/officeDocument/2006/relationships/slide" Target="slides/slide12.xml"/><Relationship Id="R1baff3bb534543f1" Type="http://schemas.openxmlformats.org/officeDocument/2006/relationships/slide" Target="slides/slide13.xml"/><Relationship Id="R3dbd82d1885f46ec" Type="http://schemas.openxmlformats.org/officeDocument/2006/relationships/tableStyles" Target="tableStyles.xml"/><Relationship Id="R486cb27bd09c47bb" Type="http://schemas.openxmlformats.org/officeDocument/2006/relationships/slide" Target="slides/slide11.xml"/><Relationship Id="R5692a519704b4503" Type="http://schemas.openxmlformats.org/officeDocument/2006/relationships/slide" Target="slides/slide7.xml"/><Relationship Id="R5cd66410d5e8484d" Type="http://schemas.openxmlformats.org/officeDocument/2006/relationships/slide" Target="slides/slide9.xml"/><Relationship Id="R74c6a764d76b4bf8" Type="http://schemas.openxmlformats.org/officeDocument/2006/relationships/slide" Target="slides/slide10.xml"/><Relationship Id="R7868f67e776842a6" Type="http://schemas.openxmlformats.org/officeDocument/2006/relationships/slide" Target="slides/slide15.xml"/><Relationship Id="R82554e0eb47d4686" Type="http://schemas.openxmlformats.org/officeDocument/2006/relationships/slide" Target="slides/slide14.xml"/><Relationship Id="Ra375e7575e3c41f2" Type="http://schemas.openxmlformats.org/officeDocument/2006/relationships/slide" Target="slides/slide4.xml"/><Relationship Id="Ra45acff0c49b4401" Type="http://schemas.openxmlformats.org/officeDocument/2006/relationships/slide" Target="slides/slide6.xml"/><Relationship Id="Raf8cee0b13c44678" Type="http://schemas.openxmlformats.org/officeDocument/2006/relationships/presProps" Target="presProps.xml"/><Relationship Id="Rc532f6586b2c4e3d" Type="http://schemas.openxmlformats.org/officeDocument/2006/relationships/slide" Target="slides/slide8.xml"/><Relationship Id="Rd56df54aedd84612" Type="http://schemas.openxmlformats.org/officeDocument/2006/relationships/slide" Target="slides/slide1.xml"/><Relationship Id="Rdca5d9a8808349dc" Type="http://schemas.openxmlformats.org/officeDocument/2006/relationships/slide" Target="slides/slide2.xml"/><Relationship Id="Re51c74849a544739" Type="http://schemas.openxmlformats.org/officeDocument/2006/relationships/slideMaster" Target="slideMasters/slideMaster1.xml"/><Relationship Id="Reb6a260156804058" Type="http://schemas.openxmlformats.org/officeDocument/2006/relationships/notesMaster" Target="notesMasters/notesMaster1.xml"/><Relationship Id="Rf017f51e4dc940fb"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f05cfb1149f240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6dd62054401445a" Type="http://schemas.openxmlformats.org/officeDocument/2006/relationships/notesMaster" Target="../notesMasters/notesMaster1.xml"/><Relationship Id="R8302c369a24640c4"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631ed686db304887" Type="http://schemas.openxmlformats.org/officeDocument/2006/relationships/slide" Target="../slides/slide2.xml"/><Relationship Id="Rb96947ccd7ba4c40"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176bfcdad8724af0" Type="http://schemas.openxmlformats.org/officeDocument/2006/relationships/slide" Target="../slides/slide3.xml"/><Relationship Id="R808be1ce90214c4f"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34c01a3ffaed452c" Type="http://schemas.openxmlformats.org/officeDocument/2006/relationships/slide" Target="../slides/slide4.xml"/><Relationship Id="R564adfacd4794e88"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77da096a027a4a25" Type="http://schemas.openxmlformats.org/officeDocument/2006/relationships/notesMaster" Target="../notesMasters/notesMaster1.xml"/><Relationship Id="Rb7f1be0917e5484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77bcea59edec499a" Type="http://schemas.openxmlformats.org/officeDocument/2006/relationships/slide" Target="../slides/slide6.xml"/><Relationship Id="Rba19e91a5d824f53"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1b4ead895de543c8" Type="http://schemas.openxmlformats.org/officeDocument/2006/relationships/notesMaster" Target="../notesMasters/notesMaster1.xml"/><Relationship Id="R2f5d786c78db4eb8"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3722379db2c149de" Type="http://schemas.openxmlformats.org/officeDocument/2006/relationships/slide" Target="../slides/slide8.xml"/><Relationship Id="R4ce830ffd2744e89"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6eced2050d14d79" Type="http://schemas.openxmlformats.org/officeDocument/2006/relationships/notesMaster" Target="../notesMasters/notesMaster1.xml"/><Relationship Id="R5675ff4733c5469a"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3de6466dff394f72" Type="http://schemas.openxmlformats.org/officeDocument/2006/relationships/slide" Target="../slides/slide10.xml"/><Relationship Id="Rfa8362ea40814613"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90299661eeaa4502" Type="http://schemas.openxmlformats.org/officeDocument/2006/relationships/slide" Target="../slides/slide11.xml"/><Relationship Id="Rb4bfa2edfeee4ef0"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01cc6ab4699f4b16" Type="http://schemas.openxmlformats.org/officeDocument/2006/relationships/notesMaster" Target="../notesMasters/notesMaster1.xml"/><Relationship Id="R54de51ac613e423f"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a099d4e2b3ca4171" Type="http://schemas.openxmlformats.org/officeDocument/2006/relationships/slide" Target="../slides/slide13.xml"/><Relationship Id="Rfdbc487bbb2241ac"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4aa5042d1024567" Type="http://schemas.openxmlformats.org/officeDocument/2006/relationships/slide" Target="../slides/slide14.xml"/><Relationship Id="Ra922fefba08441d9"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4075b96b67d74312" Type="http://schemas.openxmlformats.org/officeDocument/2006/relationships/slide" Target="../slides/slide15.xml"/><Relationship Id="R6255e3da83c5476c"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Buenos días, profesor. Presentamos el avance de ACE, nuestra plataforma de cartelería digital para Lumina Motion. El objetivo de esta etapa fue conectar la administración web con la publicación de contenido y su reproducción local. Mostraremos el recorrido que ya funciona, las evidencias de prueba y las validaciones que necesitamos completar. Duración orientativa de la exposición: 10 a 12 minutos.</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https://www.duoc.cl/wp-content/uploads/2021/03/MANUAL-DE-MARCA.pdf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Lumina Motion instala y opera pantallas en locaciones fijas. Su gestión inicial estaba descentralizada y dependía de tareas manuales. ACE propone una administración remota compartida, con permisos por locación. La continuidad local reduce la dependencia de la conexión para seguir mostrando contenido. El objetivo completo también contempla cambios locales, pero esa capacidad permanece fuera del primer corte.</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ACE\ACE\Documentación\Producto\Producto.md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Hito 2 conecta seis partes del sistema. Primero accedemos al panel y configuramos la infraestructura. Después incorporamos medios, creamos una playlist y la programamos para un destino. La API publica esa configuración y el Player descarga los recursos antes de reproducirlos desde disco. Este recorrido está integrado en computadores de desarrollo. La comprobación en el NUC y la aceptación del cliente siguen pendientes.</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ACE\ACE\Ecosistema IA\Etapas\E-003 - Desarrollo e integración para Hito 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plataforma central utiliza Laravel, Filament y MariaDB. El Player utiliza Electron y guarda medios y programación en disco. Se comunica con la API mediante un token de pantalla y un heartbeat cada 30 segundos. Cuando cambia la versión, consulta el manifiesto y descarga el contenido necesario. La reproducción siempre usa archivos locales. Reverb y WebSockets quedan para una etapa posterior. Este es un diagrama de diseño: las referencias del dibujo a NUC, rutas y 60 fps no son resultados medidos y deben leerse junto con las observaciones de R-039.</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ACE\ACE\Documentación\Producto\Arquitectura.md</a:t>
            </a:r>
          </a:p>
          <a:p xmlns:a="http://schemas.openxmlformats.org/drawingml/2006/main">
            <a:r>
              <a:t>D:\Antigravity\Proyecto ACE\ACE\Operación\Reportes\R-039 - Diagramas UML y requisitos no funcionales.md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captura muestra el panel funcionando con la sesión de administrador usada por Paulo. En esa prueba había una pantalla, seis medios y una playlist. Estos son datos del escenario de prueba, no una medición de capacidad del sistema. El menú reúne la operación cotidiana en una sola interfaz. Los contadores de esta captura conservan los nombres del día 14; después distinguimos expresamente conexión y vigencia.</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ACE\ACE\Documentación\Duoc\Entregas\Entrega 2\Evidencias\Aplicacion\Paulo-2026-10-14\README.md</a:t>
            </a:r>
          </a:p>
          <a:p xmlns:a="http://schemas.openxmlformats.org/drawingml/2006/main">
            <a:r>
              <a:t>D:\Antigravity\Proyecto ACE\ACE\Documentación\Duoc\Entregas\Entrega 2\Evidencias\Aplicacion\Paulo-2026-10-14\02-inicio.png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Aquí vemos la biblioteca de medios y la playlist de prueba. El panel permite registrar los archivos y agruparlos para reutilizarlos dentro de la locación. La evidencia muestra seis medios y cinco elementos en una playlist. Las capturas acreditan la configuración visible. La prueba posterior del Player complementa la evidencia de reproducción. Todavía debemos ampliar la cobertura de formatos, tamaños y transiciones.</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ACE\ACE\Documentación\Duoc\Entregas\Entrega 2\Evidencias\Aplicacion\Paulo-2026-10-14\README.md</a:t>
            </a:r>
          </a:p>
          <a:p xmlns:a="http://schemas.openxmlformats.org/drawingml/2006/main">
            <a:r>
              <a:t>D:\Antigravity\Proyecto ACE\ACE\Documentación\Duoc\Entregas\Entrega 2\Evidencias\Aplicacion\Paulo-2026-10-14\05-medios.png</a:t>
            </a:r>
          </a:p>
          <a:p xmlns:a="http://schemas.openxmlformats.org/drawingml/2006/main">
            <a:r>
              <a:t>D:\Antigravity\Proyecto ACE\ACE\Documentación\Duoc\Entregas\Entrega 2\Evidencias\Aplicacion\Paulo-2026-10-14\06-playlists.png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programación define dónde y cuándo debe mostrarse una playlist. En el escenario documentado se asignó Playlist 1 a Pantalla 1H-2 para una franja de tres horas. Las reglas del backend contemplan integridad y prevención de solapamientos efectivos. Esta captura muestra una configuración concreta y no sustituye todas las pruebas de conflictos. El tratamiento de franjas que cruzan medianoche continúa pendiente de decisión.</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ACE\ACE\Documentación\Duoc\Entregas\Entrega 2\Evidencias\Aplicacion\Paulo-2026-10-14\README.md</a:t>
            </a:r>
          </a:p>
          <a:p xmlns:a="http://schemas.openxmlformats.org/drawingml/2006/main">
            <a:r>
              <a:t>D:\Antigravity\Proyecto ACE\ACE\Documentación\Duoc\Entregas\Entrega 2\Evidencias\Aplicacion\Paulo-2026-10-14\07-programaciones.png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la evidencia principal de continuidad local. Paulo desconectó la red durante aproximadamente dos minutos mientras se reproducía contenido. Informó que la playlist continuó y que el aviso permaneció visible durante el corte. Al recuperar la conexión, el aviso desapareció y el contenido siguió sin alteraciones. La duración es una estimación del ejecutor y la captura fija acompaña su registro. No medimos la latencia de recuperación y todavía falta repetir el escenario en el hardware objetivo y con cortes más largos.</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ACE\ACE\Documentación\Duoc\Entregas\Entrega 2\Evidencias\Aplicacion\Paulo-2026-10-14\README.md</a:t>
            </a:r>
          </a:p>
          <a:p xmlns:a="http://schemas.openxmlformats.org/drawingml/2006/main">
            <a:r>
              <a:t>D:\Antigravity\Proyecto ACE\ACE\Documentación\Duoc\Entregas\Entrega 2\Evidencias\Aplicacion\Paulo-2026-10-14\11-player-video-sin-conexion.jpg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Durante la revisión detectamos etiquetas que podían confundir al usuario. Una pantalla desconectada puede conservar el último contenido actualizado. Además, una programación habilitada puede estar vencida por fecha. Los PR 10 y 11 separan estos significados y aclaran las tablas y los contadores de Inicio. Paulo también confirmó el acceso de una cuenta operadora limitada a MUT. Esa prueba manual no cubre todavía todos los intentos de acceso directo o de modificación entre locaciones.</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ACE\ACE\Operación\Reportes\R-026 - Mejoras priorizadas del panel.md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informe registra 255 pruebas del backend y 1.069 aserciones aprobadas el 15 de octubre, junto con Pint. Ese resultado pertenece a una ejecución local concreta y no incluye una nueva corrida manual del Player. Posteriormente, GitHub Actions aprobó los controles del PR 11, incluido backend, Player e integración. Las revisiones también produjeron correcciones de seguridad en rutas, acceso entre locaciones, tokens y descargas. La automatización aporta regresión repetible, pero requiere complementar pruebas de carga, rendimiento y hardware objetivo.</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ACE\ACE\Operación\Reportes\R-026 - Mejoras priorizadas del panel.md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seguimiento compara 22 actividades con la línea base original. Hay cuatro completadas, cinco ajustadas, cuatro con retraso, cuatro en curso y cinco sin iniciar. Los cinco casos sin iniciar están previstos después de la semana 10, por lo que no se consideran atrasos al corte. Los retrasos corresponden a preparación técnica, diseño UI/UX, base de datos y backend/API, donde aún faltan verificaciones o revisiones. No presentamos un porcentaje global porque los estados no equivalen a una medición uniforme de esfuerzo o avance.</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ajustes priorizan completar el recorrido funcional. Electron y disco reemplazaron la alternativa inicial basada en IndexedDB. El sondeo permite sincronizar con un contrato acotado y deja Reverb para una etapa posterior. El equipo ratificó el entorno mixto antes de la entrega. El Dockerfile del backend sigue pendiente en T-061 y constituye una brecha respecto del anexo docente, sin excepción aceptada por Duoc. Estas decisiones modifican la ejecución técnica y no cambian retrospectivamente las fechas de la Carta Gantt.</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ACE\ACE\Documentación\Producto\Arquitectura.md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metodología declarada es Scrum adaptado con iteraciones de dos semanas. Matías y Tomás confirmaron los roles de Product Owner y Scrum Master. Los sprint backlogs se reconstruyeron a partir de la ejecución y no prueban que todas las ceremonias ocurrieran. Los aportes de la retrospectiva convergen en mejorar la distribución del esfuerzo, participar antes del plazo y registrar decisiones. Son propuestas todavía pendientes de validación y acuerdo. Los agentes de IA apoyan el trabajo, mientras cada integrante conserva responsabilidad por comprender y revisar sus aportes.</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a:p xmlns:a="http://schemas.openxmlformats.org/drawingml/2006/main">
            <a:r>
              <a:t>D:\Antigravity\Proyecto ACE\ACE\Documentación\Duoc\Entregas\Entrega 2\Retrospectiva Fase 2.md</a:t>
            </a:r>
          </a:p>
          <a:p xmlns:a="http://schemas.openxmlformats.org/drawingml/2006/main">
            <a:r>
              <a:t>D:\Antigravity\Proyecto ACE\ACE\Operación\Reportes\R-038 - Product backlog, sprint backlogs y Definition of Done.md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siguiente trabajo debe convertir el recorrido funcional en una validación reproducible. Primero necesitamos ejecutar en el NUC o documentar el hardware equivalente, incluyendo arranque sin conexión. Después ampliaremos duración de cortes, formatos y carga. En paralelo, T-057 y T-058 deben consolidar el plan de pruebas y el manual de instalación. Finalmente debemos validar con Lumina Motion. Estos pasos son las prioridades propuestas a partir del monitoreo y requieren responsables y fechas acordados por el equipo.</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resultado de la etapa es un núcleo funcional integrado. Podemos administrar contenido, programarlo y reproducirlo desde almacenamiento local, con una prueba manual favorable ante un corte breve. El avance nos permite pasar a validaciones más amplias y completar revisiones, instalación y aceptación del cliente. Gracias, profesor. Quedamos atentos a sus preguntas. Ante preguntas sobre porcentajes, explicar que monitoreamos estados de 22 actividades y que no asignamos un porcentaje sin una métrica acordada. Ante preguntas sobre desconexión, precisar que fueron aproximadamente dos minutos, en computadores de desarrollo y con duración informada por el ejecutor.</a:t>
            </a:r>
          </a:p>
          <a:p xmlns:a="http://schemas.openxmlformats.org/drawingml/2006/main">
            <a:r>
              <a:t/>
            </a:r>
          </a:p>
          <a:p xmlns:a="http://schemas.openxmlformats.org/drawingml/2006/main">
            <a:r>
              <a:t>Fuentes de respaldo:</a:t>
            </a:r>
          </a:p>
          <a:p xmlns:a="http://schemas.openxmlformats.org/drawingml/2006/main">
            <a:r>
              <a:t>D:\Antigravity\Proyecto ACE\ACE\Documentación\Duoc\Entregas\Entrega 2\2.4_GuiaEstudiante_Fase 2_DesarrolloProyecto APT (Español).docx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d438206917c426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67c399f69c4c49f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50080f0724824d5b"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a70c4f663d414b6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80f6c8e03ad64d6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4d515b6b4e75490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0B1346-022F-4C71-B7F4-5C4DA2B5D9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18114C-D932-4470-9249-A5F9021A13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5CD29B-B52B-4298-A61A-225D26027F7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69018E-7C8A-41F0-BB10-B54CD64F52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14E3FF-B5D4-4B72-ACA5-CA6E5AB2E2E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7B061E4-70AF-4E3B-BADB-8536887F51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9B37A6-4820-44AC-B959-B1D89913F9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9DF00D-91D5-444E-91BF-CD6D5B0431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62F5F9-F80F-4321-AF8B-FF8DBBDD9A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21D546-39E0-4163-AD53-A8DC4898EE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035b812f3a24335" Type="http://schemas.openxmlformats.org/officeDocument/2006/relationships/slideLayout" Target="../slideLayouts/slideLayout4.xml"/><Relationship Id="R1a207087843d4e36" Type="http://schemas.openxmlformats.org/officeDocument/2006/relationships/theme" Target="theme/theme2.xml"/><Relationship Id="R2a7f4834e8534211" Type="http://schemas.openxmlformats.org/officeDocument/2006/relationships/slideLayout" Target="../slideLayouts/slideLayout3.xml"/><Relationship Id="R574425747ccc4adc" Type="http://schemas.openxmlformats.org/officeDocument/2006/relationships/slideLayout" Target="../slideLayouts/slideLayout1.xml"/><Relationship Id="R830bc93f3a494257" Type="http://schemas.openxmlformats.org/officeDocument/2006/relationships/slideLayout" Target="../slideLayouts/slideLayout6.xml"/><Relationship Id="Rc4b620ab7d6e4cb9" Type="http://schemas.openxmlformats.org/officeDocument/2006/relationships/slideLayout" Target="../slideLayouts/slideLayout5.xml"/><Relationship Id="Rcfe91cbe90ef4f9b"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4425747ccc4adc"/>
    <p:sldLayoutId xmlns:r="http://schemas.openxmlformats.org/officeDocument/2006/relationships" id="2147483650" r:id="Rcfe91cbe90ef4f9b"/>
    <p:sldLayoutId xmlns:r="http://schemas.openxmlformats.org/officeDocument/2006/relationships" id="2147483651" r:id="R2a7f4834e8534211"/>
    <p:sldLayoutId xmlns:r="http://schemas.openxmlformats.org/officeDocument/2006/relationships" id="2147483652" r:id="R0035b812f3a24335"/>
    <p:sldLayoutId xmlns:r="http://schemas.openxmlformats.org/officeDocument/2006/relationships" id="2147483653" r:id="Rc4b620ab7d6e4cb9"/>
    <p:sldLayoutId xmlns:r="http://schemas.openxmlformats.org/officeDocument/2006/relationships" id="2147483654" r:id="R830bc93f3a4942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45dd4bce4204ded" Type="http://schemas.openxmlformats.org/officeDocument/2006/relationships/slideLayout" Target="../slideLayouts/slideLayout6.xml"/><Relationship Id="Rb3f8b19d54894fb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0f46c06e05424c4c" Type="http://schemas.openxmlformats.org/officeDocument/2006/relationships/slideLayout" Target="../slideLayouts/slideLayout6.xml"/><Relationship Id="R48c6134b4f764fd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bbebbb1bfbe4315" Type="http://schemas.openxmlformats.org/officeDocument/2006/relationships/notesSlide" Target="../notesSlides/notesSlide3.xml"/><Relationship Id="R81133c16899d4959"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2f0209e1c3fe4d57" Type="http://schemas.openxmlformats.org/officeDocument/2006/relationships/notesSlide" Target="../notesSlides/notesSlide4.xml"/><Relationship Id="Re5f9260308584f73" Type="http://schemas.openxmlformats.org/officeDocument/2006/relationships/image" Target="../media/image.png"/><Relationship Id="Rfb424cbf0586486e"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0eed081d3c48482e" Type="http://schemas.openxmlformats.org/officeDocument/2006/relationships/slideLayout" Target="../slideLayouts/slideLayout6.xml"/><Relationship Id="Ra653eb1bb89d4e15" Type="http://schemas.openxmlformats.org/officeDocument/2006/relationships/notesSlide" Target="../notesSlides/notesSlide5.xml"/><Relationship Id="Rab96f1b1926c43c6" Type="http://schemas.openxmlformats.org/officeDocument/2006/relationships/image" Target="../media/image2.png"/></Relationships>
</file>

<file path=ppt/slides/_rels/slide6.xml.rels><?xml version='1.0' encoding='UTF-8' standalone='yes'?>
<Relationships xmlns="http://schemas.openxmlformats.org/package/2006/relationships"><Relationship Id="R11ff2ece73e4469e" Type="http://schemas.openxmlformats.org/officeDocument/2006/relationships/image" Target="../media/image3.png"/><Relationship Id="R1d5341d2813f41a3" Type="http://schemas.openxmlformats.org/officeDocument/2006/relationships/slideLayout" Target="../slideLayouts/slideLayout6.xml"/><Relationship Id="R3f636637d0ad48cf" Type="http://schemas.openxmlformats.org/officeDocument/2006/relationships/notesSlide" Target="../notesSlides/notesSlide6.xml"/><Relationship Id="R6c36b9a8c36945b2" Type="http://schemas.openxmlformats.org/officeDocument/2006/relationships/image" Target="../media/image4.png"/></Relationships>
</file>

<file path=ppt/slides/_rels/slide7.xml.rels><?xml version='1.0' encoding='UTF-8' standalone='yes'?>
<Relationships xmlns="http://schemas.openxmlformats.org/package/2006/relationships"><Relationship Id="R50c5013ce6574a16" Type="http://schemas.openxmlformats.org/officeDocument/2006/relationships/notesSlide" Target="../notesSlides/notesSlide7.xml"/><Relationship Id="R8d7b5bbcca5347b5" Type="http://schemas.openxmlformats.org/officeDocument/2006/relationships/image" Target="../media/image5.png"/><Relationship Id="Rf67520ac69354c5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801fd30868ca4fb0" Type="http://schemas.openxmlformats.org/officeDocument/2006/relationships/slideLayout" Target="../slideLayouts/slideLayout6.xml"/><Relationship Id="Rb81ccafab96d46f9" Type="http://schemas.openxmlformats.org/officeDocument/2006/relationships/image" Target="../media/image.jpeg"/><Relationship Id="Rf4dd5665bcb24ac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223354ac10e1485d" Type="http://schemas.openxmlformats.org/officeDocument/2006/relationships/notesSlide" Target="../notesSlides/notesSlide9.xml"/><Relationship Id="Rd4826a2d4b44490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5158fd9b14c84d45" Type="http://schemas.openxmlformats.org/officeDocument/2006/relationships/slideLayout" Target="../slideLayouts/slideLayout6.xml"/><Relationship Id="R74ebf847e52c445f"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02f119355eb84531" Type="http://schemas.openxmlformats.org/officeDocument/2006/relationships/slideLayout" Target="../slideLayouts/slideLayout6.xml"/><Relationship Id="Rd6581546ed884b9a"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3e99a74011124128" Type="http://schemas.openxmlformats.org/officeDocument/2006/relationships/notesSlide" Target="../notesSlides/notesSlide12.xml"/><Relationship Id="R965df60f91c74e83"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1baeabac43e7464b" Type="http://schemas.openxmlformats.org/officeDocument/2006/relationships/slideLayout" Target="../slideLayouts/slideLayout6.xml"/><Relationship Id="Ra160ca1262024c7a"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d076af515307474e" Type="http://schemas.openxmlformats.org/officeDocument/2006/relationships/slideLayout" Target="../slideLayouts/slideLayout6.xml"/><Relationship Id="Reebd798a83e5447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795464ce7e2c480e" Type="http://schemas.openxmlformats.org/officeDocument/2006/relationships/slideLayout" Target="../slideLayouts/slideLayout6.xml"/><Relationship Id="Rb0e569f72bd84233" Type="http://schemas.openxmlformats.org/officeDocument/2006/relationships/notesSlide" Target="../notesSlides/notesSlide15.xml"/></Relationships>
</file>

<file path=ppt/slides/slide1.xml><?xml version="1.0" encoding="utf-8"?>
<p:sld xmlns:p="http://schemas.openxmlformats.org/presentationml/2006/main">
  <p:cSld>
    <p:bg>
      <p:bgPr>
        <a:solidFill xmlns:a="http://schemas.openxmlformats.org/drawingml/2006/main">
          <a:srgbClr val="002D56"/>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77813E3-A166-4168-9A4B-239160727207}"/>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4E3F0"/>
                </a:solidFill>
                <a:latin typeface="Arial"/>
                <a:ea typeface="Arial"/>
                <a:cs typeface="Arial"/>
              </a:defRPr>
            </a:defPPr>
          </a:lstStyle>
          <a:p xmlns:a="http://schemas.openxmlformats.org/drawingml/2006/main">
            <a:pPr>
              <a:defRPr sz="1200" b="0">
                <a:solidFill>
                  <a:srgbClr val="D4E3F0"/>
                </a:solidFill>
                <a:latin typeface="Arial"/>
                <a:ea typeface="Arial"/>
                <a:cs typeface="Arial"/>
              </a:defRPr>
            </a:pPr>
            <a:r>
              <a:rPr sz="1200" b="0">
                <a:solidFill>
                  <a:srgbClr val="D4E3F0"/>
                </a:solidFill>
                <a:latin typeface="Arial"/>
                <a:ea typeface="Arial"/>
                <a:cs typeface="Arial"/>
              </a:rPr>
              <a:t>ACE   /   Avance de Fase 2</a:t>
            </a:r>
          </a:p>
        </p:txBody>
      </p:sp>
      <p:sp>
        <p:nvSpPr>
          <p:cNvPr id="2" name="text-1">
            <a:extLst xmlns:a="http://schemas.openxmlformats.org/drawingml/2006/main">
              <a:ext uri="{FF2B5EF4-FFF2-40B4-BE49-F238E27FC236}">
                <a16:creationId xmlns:a16="http://schemas.microsoft.com/office/drawing/2014/main" id="{0C1C0A4B-ADF1-4CCF-8B08-4CAEE0A98179}"/>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FFB800"/>
                </a:solidFill>
                <a:latin typeface="Arial"/>
                <a:ea typeface="Arial"/>
                <a:cs typeface="Arial"/>
              </a:defRPr>
            </a:defPPr>
          </a:lstStyle>
          <a:p xmlns:a="http://schemas.openxmlformats.org/drawingml/2006/main">
            <a:pPr>
              <a:defRPr sz="1350" b="1">
                <a:solidFill>
                  <a:srgbClr val="FFB800"/>
                </a:solidFill>
                <a:latin typeface="Arial"/>
                <a:ea typeface="Arial"/>
                <a:cs typeface="Arial"/>
              </a:defRPr>
            </a:pPr>
            <a:r>
              <a:rPr sz="1350" b="1">
                <a:solidFill>
                  <a:srgbClr val="FFB800"/>
                </a:solidFill>
                <a:latin typeface="Arial"/>
                <a:ea typeface="Arial"/>
                <a:cs typeface="Arial"/>
              </a:rPr>
              <a:t>01</a:t>
            </a:r>
          </a:p>
        </p:txBody>
      </p:sp>
      <p:sp>
        <p:nvSpPr>
          <p:cNvPr id="3" name="text-2">
            <a:extLst xmlns:a="http://schemas.openxmlformats.org/drawingml/2006/main">
              <a:ext uri="{FF2B5EF4-FFF2-40B4-BE49-F238E27FC236}">
                <a16:creationId xmlns:a16="http://schemas.microsoft.com/office/drawing/2014/main" id="{FD9B4CFD-D73D-452E-8994-7ADB45ED626D}"/>
              </a:ext>
            </a:extLst>
          </p:cNvPr>
          <p:cNvSpPr>
            <a:spLocks xmlns:a="http://schemas.openxmlformats.org/drawingml/2006/main" noGrp="1"/>
          </p:cNvSpPr>
          <p:nvPr/>
        </p:nvSpPr>
        <p:spPr>
          <a:xfrm xmlns:a="http://schemas.openxmlformats.org/drawingml/2006/main">
            <a:off x="628650" y="4953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Duoc UC</a:t>
            </a:r>
          </a:p>
        </p:txBody>
      </p:sp>
      <p:sp>
        <p:nvSpPr>
          <p:cNvPr id="4" name="text-3">
            <a:extLst xmlns:a="http://schemas.openxmlformats.org/drawingml/2006/main">
              <a:ext uri="{FF2B5EF4-FFF2-40B4-BE49-F238E27FC236}">
                <a16:creationId xmlns:a16="http://schemas.microsoft.com/office/drawing/2014/main" id="{E5E2F8DF-3CFC-4FBB-99AB-003B6A008BFD}"/>
              </a:ext>
            </a:extLst>
          </p:cNvPr>
          <p:cNvSpPr>
            <a:spLocks xmlns:a="http://schemas.openxmlformats.org/drawingml/2006/main" noGrp="1"/>
          </p:cNvSpPr>
          <p:nvPr/>
        </p:nvSpPr>
        <p:spPr>
          <a:xfrm xmlns:a="http://schemas.openxmlformats.org/drawingml/2006/main">
            <a:off x="590550" y="1381125"/>
            <a:ext cx="666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400" b="1">
                <a:solidFill>
                  <a:srgbClr val="FFB800"/>
                </a:solidFill>
                <a:latin typeface="Arial"/>
                <a:ea typeface="Arial"/>
                <a:cs typeface="Arial"/>
              </a:defRPr>
            </a:defPPr>
          </a:lstStyle>
          <a:p xmlns:a="http://schemas.openxmlformats.org/drawingml/2006/main">
            <a:pPr>
              <a:defRPr sz="8400" b="1">
                <a:solidFill>
                  <a:srgbClr val="FFB800"/>
                </a:solidFill>
                <a:latin typeface="Arial"/>
                <a:ea typeface="Arial"/>
                <a:cs typeface="Arial"/>
              </a:defRPr>
            </a:pPr>
            <a:r>
              <a:rPr sz="8400" b="1">
                <a:solidFill>
                  <a:srgbClr val="FFB800"/>
                </a:solidFill>
                <a:latin typeface="Arial"/>
                <a:ea typeface="Arial"/>
                <a:cs typeface="Arial"/>
              </a:rPr>
              <a:t>ACE</a:t>
            </a:r>
          </a:p>
        </p:txBody>
      </p:sp>
      <p:sp>
        <p:nvSpPr>
          <p:cNvPr id="5" name="text-4">
            <a:extLst xmlns:a="http://schemas.openxmlformats.org/drawingml/2006/main">
              <a:ext uri="{FF2B5EF4-FFF2-40B4-BE49-F238E27FC236}">
                <a16:creationId xmlns:a16="http://schemas.microsoft.com/office/drawing/2014/main" id="{9A5453FC-9B7C-4135-B81D-510C102322A9}"/>
              </a:ext>
            </a:extLst>
          </p:cNvPr>
          <p:cNvSpPr>
            <a:spLocks xmlns:a="http://schemas.openxmlformats.org/drawingml/2006/main" noGrp="1"/>
          </p:cNvSpPr>
          <p:nvPr/>
        </p:nvSpPr>
        <p:spPr>
          <a:xfrm xmlns:a="http://schemas.openxmlformats.org/drawingml/2006/main">
            <a:off x="647700" y="2762250"/>
            <a:ext cx="10572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Administración de contenido</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en pantallas</a:t>
            </a:r>
          </a:p>
        </p:txBody>
      </p:sp>
      <p:sp>
        <p:nvSpPr>
          <p:cNvPr id="6" name="text-5">
            <a:extLst xmlns:a="http://schemas.openxmlformats.org/drawingml/2006/main">
              <a:ext uri="{FF2B5EF4-FFF2-40B4-BE49-F238E27FC236}">
                <a16:creationId xmlns:a16="http://schemas.microsoft.com/office/drawing/2014/main" id="{16878B03-0BD3-422F-B4C4-6C23F514A6EB}"/>
              </a:ext>
            </a:extLst>
          </p:cNvPr>
          <p:cNvSpPr>
            <a:spLocks xmlns:a="http://schemas.openxmlformats.org/drawingml/2006/main" noGrp="1"/>
          </p:cNvSpPr>
          <p:nvPr/>
        </p:nvSpPr>
        <p:spPr>
          <a:xfrm xmlns:a="http://schemas.openxmlformats.org/drawingml/2006/main">
            <a:off x="647700" y="42862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Avance de Fase 2</a:t>
            </a:r>
          </a:p>
        </p:txBody>
      </p:sp>
      <p:sp>
        <p:nvSpPr>
          <p:cNvPr id="7" name="text-6">
            <a:extLst xmlns:a="http://schemas.openxmlformats.org/drawingml/2006/main">
              <a:ext uri="{FF2B5EF4-FFF2-40B4-BE49-F238E27FC236}">
                <a16:creationId xmlns:a16="http://schemas.microsoft.com/office/drawing/2014/main" id="{F706624A-99CB-4C08-AE2B-26025973D6A0}"/>
              </a:ext>
            </a:extLst>
          </p:cNvPr>
          <p:cNvSpPr>
            <a:spLocks xmlns:a="http://schemas.openxmlformats.org/drawingml/2006/main" noGrp="1"/>
          </p:cNvSpPr>
          <p:nvPr/>
        </p:nvSpPr>
        <p:spPr>
          <a:xfrm xmlns:a="http://schemas.openxmlformats.org/drawingml/2006/main">
            <a:off x="647700" y="49720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Tomás Escalante · Matías Salas · Paulo Loyola</a:t>
            </a:r>
          </a:p>
        </p:txBody>
      </p:sp>
      <p:sp>
        <p:nvSpPr>
          <p:cNvPr id="8" name="text-7">
            <a:extLst xmlns:a="http://schemas.openxmlformats.org/drawingml/2006/main">
              <a:ext uri="{FF2B5EF4-FFF2-40B4-BE49-F238E27FC236}">
                <a16:creationId xmlns:a16="http://schemas.microsoft.com/office/drawing/2014/main" id="{BE993646-2CE9-48B4-BDB1-8C061323216A}"/>
              </a:ext>
            </a:extLst>
          </p:cNvPr>
          <p:cNvSpPr>
            <a:spLocks xmlns:a="http://schemas.openxmlformats.org/drawingml/2006/main" noGrp="1"/>
          </p:cNvSpPr>
          <p:nvPr/>
        </p:nvSpPr>
        <p:spPr>
          <a:xfrm xmlns:a="http://schemas.openxmlformats.org/drawingml/2006/main">
            <a:off x="647700" y="5524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4E3F0"/>
                </a:solidFill>
                <a:latin typeface="Arial"/>
                <a:ea typeface="Arial"/>
                <a:cs typeface="Arial"/>
              </a:defRPr>
            </a:defPPr>
          </a:lstStyle>
          <a:p xmlns:a="http://schemas.openxmlformats.org/drawingml/2006/main">
            <a:pPr>
              <a:defRPr sz="1725" b="0">
                <a:solidFill>
                  <a:srgbClr val="D4E3F0"/>
                </a:solidFill>
                <a:latin typeface="Arial"/>
                <a:ea typeface="Arial"/>
                <a:cs typeface="Arial"/>
              </a:defRPr>
            </a:pPr>
            <a:r>
              <a:rPr sz="1725" b="0">
                <a:solidFill>
                  <a:srgbClr val="D4E3F0"/>
                </a:solidFill>
                <a:latin typeface="Arial"/>
                <a:ea typeface="Arial"/>
                <a:cs typeface="Arial"/>
              </a:rPr>
              <a:t>Capstone, sección 802D · Sede Antonio Varas</a:t>
            </a:r>
          </a:p>
          <a:p xmlns:a="http://schemas.openxmlformats.org/drawingml/2006/main">
            <a:pPr>
              <a:defRPr sz="1725" b="0">
                <a:solidFill>
                  <a:srgbClr val="D4E3F0"/>
                </a:solidFill>
                <a:latin typeface="Arial"/>
                <a:ea typeface="Arial"/>
                <a:cs typeface="Arial"/>
              </a:defRPr>
            </a:pPr>
            <a:r>
              <a:rPr sz="1725" b="0">
                <a:solidFill>
                  <a:srgbClr val="D4E3F0"/>
                </a:solidFill>
                <a:latin typeface="Arial"/>
                <a:ea typeface="Arial"/>
                <a:cs typeface="Arial"/>
              </a:rPr>
              <a:t>Profesor Aldo Martínez · 16 de octubre de 2026</a:t>
            </a:r>
          </a:p>
        </p:txBody>
      </p:sp>
    </p:spTree>
    <p:extLst>
      <p:ext uri="{BB962C8B-B14F-4D97-AF65-F5344CB8AC3E}">
        <p14:creationId xmlns:p14="http://schemas.microsoft.com/office/powerpoint/2010/main" val="1355066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B039044-6708-4E72-BC5E-D5E765CBD448}"/>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Gestión de pantallas para Lumina Motion</a:t>
            </a:r>
          </a:p>
        </p:txBody>
      </p:sp>
      <p:sp>
        <p:nvSpPr>
          <p:cNvPr id="2" name="text-1">
            <a:extLst xmlns:a="http://schemas.openxmlformats.org/drawingml/2006/main">
              <a:ext uri="{FF2B5EF4-FFF2-40B4-BE49-F238E27FC236}">
                <a16:creationId xmlns:a16="http://schemas.microsoft.com/office/drawing/2014/main" id="{EAB68966-4834-416F-AE64-54DA9AD1B763}"/>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A746878F-0A2A-4837-A1D8-187770CC0978}"/>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8829DF13-E557-482D-B275-068A5AC2A87C}"/>
              </a:ext>
            </a:extLst>
          </p:cNvPr>
          <p:cNvSpPr>
            <a:spLocks xmlns:a="http://schemas.openxmlformats.org/drawingml/2006/main" noGrp="1"/>
          </p:cNvSpPr>
          <p:nvPr/>
        </p:nvSpPr>
        <p:spPr>
          <a:xfrm xmlns:a="http://schemas.openxmlformats.org/drawingml/2006/main">
            <a:off x="609600" y="18097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2D56"/>
                </a:solidFill>
                <a:latin typeface="Arial"/>
                <a:ea typeface="Arial"/>
                <a:cs typeface="Arial"/>
              </a:defRPr>
            </a:defPPr>
          </a:lstStyle>
          <a:p xmlns:a="http://schemas.openxmlformats.org/drawingml/2006/main">
            <a:pPr>
              <a:defRPr sz="2250" b="1">
                <a:solidFill>
                  <a:srgbClr val="002D56"/>
                </a:solidFill>
                <a:latin typeface="Arial"/>
                <a:ea typeface="Arial"/>
                <a:cs typeface="Arial"/>
              </a:defRPr>
            </a:pPr>
            <a:r>
              <a:rPr sz="2250" b="1">
                <a:solidFill>
                  <a:srgbClr val="002D56"/>
                </a:solidFill>
                <a:latin typeface="Arial"/>
                <a:ea typeface="Arial"/>
                <a:cs typeface="Arial"/>
              </a:rPr>
              <a:t>Situación inicial</a:t>
            </a:r>
          </a:p>
        </p:txBody>
      </p:sp>
      <p:sp>
        <p:nvSpPr>
          <p:cNvPr id="5" name="text-4">
            <a:extLst xmlns:a="http://schemas.openxmlformats.org/drawingml/2006/main">
              <a:ext uri="{FF2B5EF4-FFF2-40B4-BE49-F238E27FC236}">
                <a16:creationId xmlns:a16="http://schemas.microsoft.com/office/drawing/2014/main" id="{1597F740-1BA7-4FF6-A8FE-6F780A79701D}"/>
              </a:ext>
            </a:extLst>
          </p:cNvPr>
          <p:cNvSpPr>
            <a:spLocks xmlns:a="http://schemas.openxmlformats.org/drawingml/2006/main" noGrp="1"/>
          </p:cNvSpPr>
          <p:nvPr/>
        </p:nvSpPr>
        <p:spPr>
          <a:xfrm xmlns:a="http://schemas.openxmlformats.org/drawingml/2006/main">
            <a:off x="609600" y="2314575"/>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La operación utiliza herramientas separadas y cargas manuales de contenido.</a:t>
            </a:r>
          </a:p>
        </p:txBody>
      </p:sp>
      <p:sp>
        <p:nvSpPr>
          <p:cNvPr id="6" name="text-5">
            <a:extLst xmlns:a="http://schemas.openxmlformats.org/drawingml/2006/main">
              <a:ext uri="{FF2B5EF4-FFF2-40B4-BE49-F238E27FC236}">
                <a16:creationId xmlns:a16="http://schemas.microsoft.com/office/drawing/2014/main" id="{A610A096-0914-42BD-8B5D-53A8ED299031}"/>
              </a:ext>
            </a:extLst>
          </p:cNvPr>
          <p:cNvSpPr>
            <a:spLocks xmlns:a="http://schemas.openxmlformats.org/drawingml/2006/main" noGrp="1"/>
          </p:cNvSpPr>
          <p:nvPr/>
        </p:nvSpPr>
        <p:spPr>
          <a:xfrm xmlns:a="http://schemas.openxmlformats.org/drawingml/2006/main">
            <a:off x="609600" y="3667125"/>
            <a:ext cx="4714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324D"/>
                </a:solidFill>
                <a:latin typeface="Arial"/>
                <a:ea typeface="Arial"/>
                <a:cs typeface="Arial"/>
              </a:defRPr>
            </a:defPPr>
          </a:lstStyle>
          <a:p xmlns:a="http://schemas.openxmlformats.org/drawingml/2006/main">
            <a:pPr>
              <a:defRPr sz="2325" b="0">
                <a:solidFill>
                  <a:srgbClr val="17324D"/>
                </a:solidFill>
                <a:latin typeface="Arial"/>
                <a:ea typeface="Arial"/>
                <a:cs typeface="Arial"/>
              </a:defRPr>
            </a:pPr>
            <a:r>
              <a:rPr sz="2325" b="0">
                <a:solidFill>
                  <a:srgbClr val="17324D"/>
                </a:solidFill>
                <a:latin typeface="Arial"/>
                <a:ea typeface="Arial"/>
                <a:cs typeface="Arial"/>
              </a:rPr>
              <a:t>La intervención presencial dificulta coordinar cambios entre pantallas.</a:t>
            </a:r>
          </a:p>
        </p:txBody>
      </p:sp>
      <p:sp>
        <p:nvSpPr>
          <p:cNvPr id="7" name="text-6">
            <a:extLst xmlns:a="http://schemas.openxmlformats.org/drawingml/2006/main">
              <a:ext uri="{FF2B5EF4-FFF2-40B4-BE49-F238E27FC236}">
                <a16:creationId xmlns:a16="http://schemas.microsoft.com/office/drawing/2014/main" id="{A5B884C3-5DA3-4123-80E2-2C7DE4533CFC}"/>
              </a:ext>
            </a:extLst>
          </p:cNvPr>
          <p:cNvSpPr>
            <a:spLocks xmlns:a="http://schemas.openxmlformats.org/drawingml/2006/main" noGrp="1"/>
          </p:cNvSpPr>
          <p:nvPr/>
        </p:nvSpPr>
        <p:spPr>
          <a:xfrm xmlns:a="http://schemas.openxmlformats.org/drawingml/2006/main">
            <a:off x="6419850" y="18097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2D56"/>
                </a:solidFill>
                <a:latin typeface="Arial"/>
                <a:ea typeface="Arial"/>
                <a:cs typeface="Arial"/>
              </a:defRPr>
            </a:defPPr>
          </a:lstStyle>
          <a:p xmlns:a="http://schemas.openxmlformats.org/drawingml/2006/main">
            <a:pPr>
              <a:defRPr sz="2250" b="1">
                <a:solidFill>
                  <a:srgbClr val="002D56"/>
                </a:solidFill>
                <a:latin typeface="Arial"/>
                <a:ea typeface="Arial"/>
                <a:cs typeface="Arial"/>
              </a:defRPr>
            </a:pPr>
            <a:r>
              <a:rPr sz="2250" b="1">
                <a:solidFill>
                  <a:srgbClr val="002D56"/>
                </a:solidFill>
                <a:latin typeface="Arial"/>
                <a:ea typeface="Arial"/>
                <a:cs typeface="Arial"/>
              </a:rPr>
              <a:t>Objetivo de ACE</a:t>
            </a:r>
          </a:p>
        </p:txBody>
      </p:sp>
      <p:sp>
        <p:nvSpPr>
          <p:cNvPr id="8" name="text-7">
            <a:extLst xmlns:a="http://schemas.openxmlformats.org/drawingml/2006/main">
              <a:ext uri="{FF2B5EF4-FFF2-40B4-BE49-F238E27FC236}">
                <a16:creationId xmlns:a16="http://schemas.microsoft.com/office/drawing/2014/main" id="{58E85745-909B-4661-817F-1E444697470F}"/>
              </a:ext>
            </a:extLst>
          </p:cNvPr>
          <p:cNvSpPr>
            <a:spLocks xmlns:a="http://schemas.openxmlformats.org/drawingml/2006/main" noGrp="1"/>
          </p:cNvSpPr>
          <p:nvPr/>
        </p:nvSpPr>
        <p:spPr>
          <a:xfrm xmlns:a="http://schemas.openxmlformats.org/drawingml/2006/main">
            <a:off x="6419850" y="2314575"/>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Centralizar pantallas, contenido y programación desde un panel web.</a:t>
            </a:r>
          </a:p>
        </p:txBody>
      </p:sp>
      <p:sp>
        <p:nvSpPr>
          <p:cNvPr id="9" name="text-8">
            <a:extLst xmlns:a="http://schemas.openxmlformats.org/drawingml/2006/main">
              <a:ext uri="{FF2B5EF4-FFF2-40B4-BE49-F238E27FC236}">
                <a16:creationId xmlns:a16="http://schemas.microsoft.com/office/drawing/2014/main" id="{9E801CCA-7FEF-4291-988B-F7FEC7FED874}"/>
              </a:ext>
            </a:extLst>
          </p:cNvPr>
          <p:cNvSpPr>
            <a:spLocks xmlns:a="http://schemas.openxmlformats.org/drawingml/2006/main" noGrp="1"/>
          </p:cNvSpPr>
          <p:nvPr/>
        </p:nvSpPr>
        <p:spPr>
          <a:xfrm xmlns:a="http://schemas.openxmlformats.org/drawingml/2006/main">
            <a:off x="6419850" y="3667125"/>
            <a:ext cx="5048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2D56"/>
                </a:solidFill>
                <a:latin typeface="Arial"/>
                <a:ea typeface="Arial"/>
                <a:cs typeface="Arial"/>
              </a:defRPr>
            </a:defPPr>
          </a:lstStyle>
          <a:p xmlns:a="http://schemas.openxmlformats.org/drawingml/2006/main">
            <a:pPr>
              <a:defRPr sz="2325" b="1">
                <a:solidFill>
                  <a:srgbClr val="002D56"/>
                </a:solidFill>
                <a:latin typeface="Arial"/>
                <a:ea typeface="Arial"/>
                <a:cs typeface="Arial"/>
              </a:defRPr>
            </a:pPr>
            <a:r>
              <a:rPr sz="2325" b="1">
                <a:solidFill>
                  <a:srgbClr val="002D56"/>
                </a:solidFill>
                <a:latin typeface="Arial"/>
                <a:ea typeface="Arial"/>
                <a:cs typeface="Arial"/>
              </a:rPr>
              <a:t>Mantener la reproducción con los recursos disponibles localmente cuando se pierde internet.</a:t>
            </a:r>
          </a:p>
        </p:txBody>
      </p:sp>
    </p:spTree>
    <p:extLst>
      <p:ext uri="{BB962C8B-B14F-4D97-AF65-F5344CB8AC3E}">
        <p14:creationId xmlns:p14="http://schemas.microsoft.com/office/powerpoint/2010/main" val="18719501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1A5AB7CB-2D82-4BB4-BDA5-9EAB07D0B9EF}"/>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Recorrido funcional del Hito 2</a:t>
            </a:r>
          </a:p>
        </p:txBody>
      </p:sp>
      <p:sp>
        <p:nvSpPr>
          <p:cNvPr id="2" name="text-1">
            <a:extLst xmlns:a="http://schemas.openxmlformats.org/drawingml/2006/main">
              <a:ext uri="{FF2B5EF4-FFF2-40B4-BE49-F238E27FC236}">
                <a16:creationId xmlns:a16="http://schemas.microsoft.com/office/drawing/2014/main" id="{635B63C2-22DD-46FC-B24E-5D5D945ADE8E}"/>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C8F6A849-B938-4BF3-ABED-569F2B9558F9}"/>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59D4AF0E-E3E1-4204-8FD9-63F287406BDA}"/>
              </a:ext>
            </a:extLst>
          </p:cNvPr>
          <p:cNvSpPr>
            <a:spLocks xmlns:a="http://schemas.openxmlformats.org/drawingml/2006/main" noGrp="1"/>
          </p:cNvSpPr>
          <p:nvPr/>
        </p:nvSpPr>
        <p:spPr>
          <a:xfrm xmlns:a="http://schemas.openxmlformats.org/drawingml/2006/main">
            <a:off x="609600" y="1676400"/>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2D56"/>
                </a:solidFill>
                <a:latin typeface="Arial"/>
                <a:ea typeface="Arial"/>
                <a:cs typeface="Arial"/>
              </a:defRPr>
            </a:defPPr>
          </a:lstStyle>
          <a:p xmlns:a="http://schemas.openxmlformats.org/drawingml/2006/main">
            <a:pPr>
              <a:defRPr sz="2550" b="1">
                <a:solidFill>
                  <a:srgbClr val="002D56"/>
                </a:solidFill>
                <a:latin typeface="Arial"/>
                <a:ea typeface="Arial"/>
                <a:cs typeface="Arial"/>
              </a:defRPr>
            </a:pPr>
            <a:r>
              <a:rPr sz="2550" b="1">
                <a:solidFill>
                  <a:srgbClr val="002D56"/>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AC1F961C-8734-4FE3-ADC1-C6ED565EAF59}"/>
              </a:ext>
            </a:extLst>
          </p:cNvPr>
          <p:cNvSpPr>
            <a:spLocks xmlns:a="http://schemas.openxmlformats.org/drawingml/2006/main" noGrp="1"/>
          </p:cNvSpPr>
          <p:nvPr/>
        </p:nvSpPr>
        <p:spPr>
          <a:xfrm xmlns:a="http://schemas.openxmlformats.org/drawingml/2006/main">
            <a:off x="1428750" y="16764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Acceso y permisos</a:t>
            </a:r>
          </a:p>
        </p:txBody>
      </p:sp>
      <p:sp>
        <p:nvSpPr>
          <p:cNvPr id="6" name="text-5">
            <a:extLst xmlns:a="http://schemas.openxmlformats.org/drawingml/2006/main">
              <a:ext uri="{FF2B5EF4-FFF2-40B4-BE49-F238E27FC236}">
                <a16:creationId xmlns:a16="http://schemas.microsoft.com/office/drawing/2014/main" id="{08CFDC6C-28EA-46BA-947A-C42789B01F3F}"/>
              </a:ext>
            </a:extLst>
          </p:cNvPr>
          <p:cNvSpPr>
            <a:spLocks xmlns:a="http://schemas.openxmlformats.org/drawingml/2006/main" noGrp="1"/>
          </p:cNvSpPr>
          <p:nvPr/>
        </p:nvSpPr>
        <p:spPr>
          <a:xfrm xmlns:a="http://schemas.openxmlformats.org/drawingml/2006/main">
            <a:off x="1428750" y="2143125"/>
            <a:ext cx="438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24D"/>
                </a:solidFill>
                <a:latin typeface="Arial"/>
                <a:ea typeface="Arial"/>
                <a:cs typeface="Arial"/>
              </a:defRPr>
            </a:defPPr>
          </a:lstStyle>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Administrador y operador por locación.</a:t>
            </a:r>
          </a:p>
        </p:txBody>
      </p:sp>
      <p:sp>
        <p:nvSpPr>
          <p:cNvPr id="7" name="text-6">
            <a:extLst xmlns:a="http://schemas.openxmlformats.org/drawingml/2006/main">
              <a:ext uri="{FF2B5EF4-FFF2-40B4-BE49-F238E27FC236}">
                <a16:creationId xmlns:a16="http://schemas.microsoft.com/office/drawing/2014/main" id="{0B383F98-74B9-45B6-B734-4B7A7704B3F8}"/>
              </a:ext>
            </a:extLst>
          </p:cNvPr>
          <p:cNvSpPr>
            <a:spLocks xmlns:a="http://schemas.openxmlformats.org/drawingml/2006/main" noGrp="1"/>
          </p:cNvSpPr>
          <p:nvPr/>
        </p:nvSpPr>
        <p:spPr>
          <a:xfrm xmlns:a="http://schemas.openxmlformats.org/drawingml/2006/main">
            <a:off x="609600" y="3057525"/>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2D56"/>
                </a:solidFill>
                <a:latin typeface="Arial"/>
                <a:ea typeface="Arial"/>
                <a:cs typeface="Arial"/>
              </a:defRPr>
            </a:defPPr>
          </a:lstStyle>
          <a:p xmlns:a="http://schemas.openxmlformats.org/drawingml/2006/main">
            <a:pPr>
              <a:defRPr sz="2550" b="1">
                <a:solidFill>
                  <a:srgbClr val="002D56"/>
                </a:solidFill>
                <a:latin typeface="Arial"/>
                <a:ea typeface="Arial"/>
                <a:cs typeface="Arial"/>
              </a:defRPr>
            </a:pPr>
            <a:r>
              <a:rPr sz="2550" b="1">
                <a:solidFill>
                  <a:srgbClr val="002D56"/>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CA7FF4FC-E380-4E86-96C1-54E04A0A11B2}"/>
              </a:ext>
            </a:extLst>
          </p:cNvPr>
          <p:cNvSpPr>
            <a:spLocks xmlns:a="http://schemas.openxmlformats.org/drawingml/2006/main" noGrp="1"/>
          </p:cNvSpPr>
          <p:nvPr/>
        </p:nvSpPr>
        <p:spPr>
          <a:xfrm xmlns:a="http://schemas.openxmlformats.org/drawingml/2006/main">
            <a:off x="1428750" y="30575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Infraestructura</a:t>
            </a:r>
          </a:p>
        </p:txBody>
      </p:sp>
      <p:sp>
        <p:nvSpPr>
          <p:cNvPr id="9" name="text-8">
            <a:extLst xmlns:a="http://schemas.openxmlformats.org/drawingml/2006/main">
              <a:ext uri="{FF2B5EF4-FFF2-40B4-BE49-F238E27FC236}">
                <a16:creationId xmlns:a16="http://schemas.microsoft.com/office/drawing/2014/main" id="{8017E887-8CA6-4DFD-A523-7AEADBDDAD33}"/>
              </a:ext>
            </a:extLst>
          </p:cNvPr>
          <p:cNvSpPr>
            <a:spLocks xmlns:a="http://schemas.openxmlformats.org/drawingml/2006/main" noGrp="1"/>
          </p:cNvSpPr>
          <p:nvPr/>
        </p:nvSpPr>
        <p:spPr>
          <a:xfrm xmlns:a="http://schemas.openxmlformats.org/drawingml/2006/main">
            <a:off x="1428750" y="3524250"/>
            <a:ext cx="438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24D"/>
                </a:solidFill>
                <a:latin typeface="Arial"/>
                <a:ea typeface="Arial"/>
                <a:cs typeface="Arial"/>
              </a:defRPr>
            </a:defPPr>
          </a:lstStyle>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Locaciones, sectores y pantallas.</a:t>
            </a:r>
          </a:p>
        </p:txBody>
      </p:sp>
      <p:sp>
        <p:nvSpPr>
          <p:cNvPr id="10" name="text-9">
            <a:extLst xmlns:a="http://schemas.openxmlformats.org/drawingml/2006/main">
              <a:ext uri="{FF2B5EF4-FFF2-40B4-BE49-F238E27FC236}">
                <a16:creationId xmlns:a16="http://schemas.microsoft.com/office/drawing/2014/main" id="{F2088685-5345-49DE-95E0-C5198744B030}"/>
              </a:ext>
            </a:extLst>
          </p:cNvPr>
          <p:cNvSpPr>
            <a:spLocks xmlns:a="http://schemas.openxmlformats.org/drawingml/2006/main" noGrp="1"/>
          </p:cNvSpPr>
          <p:nvPr/>
        </p:nvSpPr>
        <p:spPr>
          <a:xfrm xmlns:a="http://schemas.openxmlformats.org/drawingml/2006/main">
            <a:off x="609600" y="4438650"/>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2D56"/>
                </a:solidFill>
                <a:latin typeface="Arial"/>
                <a:ea typeface="Arial"/>
                <a:cs typeface="Arial"/>
              </a:defRPr>
            </a:defPPr>
          </a:lstStyle>
          <a:p xmlns:a="http://schemas.openxmlformats.org/drawingml/2006/main">
            <a:pPr>
              <a:defRPr sz="2550" b="1">
                <a:solidFill>
                  <a:srgbClr val="002D56"/>
                </a:solidFill>
                <a:latin typeface="Arial"/>
                <a:ea typeface="Arial"/>
                <a:cs typeface="Arial"/>
              </a:defRPr>
            </a:pPr>
            <a:r>
              <a:rPr sz="2550" b="1">
                <a:solidFill>
                  <a:srgbClr val="002D56"/>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13B602C2-838C-4DB8-9C68-E3C573CE1C00}"/>
              </a:ext>
            </a:extLst>
          </p:cNvPr>
          <p:cNvSpPr>
            <a:spLocks xmlns:a="http://schemas.openxmlformats.org/drawingml/2006/main" noGrp="1"/>
          </p:cNvSpPr>
          <p:nvPr/>
        </p:nvSpPr>
        <p:spPr>
          <a:xfrm xmlns:a="http://schemas.openxmlformats.org/drawingml/2006/main">
            <a:off x="1428750" y="443865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Biblioteca y playlists</a:t>
            </a:r>
          </a:p>
        </p:txBody>
      </p:sp>
      <p:sp>
        <p:nvSpPr>
          <p:cNvPr id="12" name="text-11">
            <a:extLst xmlns:a="http://schemas.openxmlformats.org/drawingml/2006/main">
              <a:ext uri="{FF2B5EF4-FFF2-40B4-BE49-F238E27FC236}">
                <a16:creationId xmlns:a16="http://schemas.microsoft.com/office/drawing/2014/main" id="{0E99F6D0-0509-4413-A0F3-306954C61D00}"/>
              </a:ext>
            </a:extLst>
          </p:cNvPr>
          <p:cNvSpPr>
            <a:spLocks xmlns:a="http://schemas.openxmlformats.org/drawingml/2006/main" noGrp="1"/>
          </p:cNvSpPr>
          <p:nvPr/>
        </p:nvSpPr>
        <p:spPr>
          <a:xfrm xmlns:a="http://schemas.openxmlformats.org/drawingml/2006/main">
            <a:off x="1428750" y="4905375"/>
            <a:ext cx="438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24D"/>
                </a:solidFill>
                <a:latin typeface="Arial"/>
                <a:ea typeface="Arial"/>
                <a:cs typeface="Arial"/>
              </a:defRPr>
            </a:defPPr>
          </a:lstStyle>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Imágenes y videos organizados.</a:t>
            </a:r>
          </a:p>
        </p:txBody>
      </p:sp>
      <p:sp>
        <p:nvSpPr>
          <p:cNvPr id="13" name="text-12">
            <a:extLst xmlns:a="http://schemas.openxmlformats.org/drawingml/2006/main">
              <a:ext uri="{FF2B5EF4-FFF2-40B4-BE49-F238E27FC236}">
                <a16:creationId xmlns:a16="http://schemas.microsoft.com/office/drawing/2014/main" id="{DBE003C3-7917-45AA-92F1-31C73D1661D8}"/>
              </a:ext>
            </a:extLst>
          </p:cNvPr>
          <p:cNvSpPr>
            <a:spLocks xmlns:a="http://schemas.openxmlformats.org/drawingml/2006/main" noGrp="1"/>
          </p:cNvSpPr>
          <p:nvPr/>
        </p:nvSpPr>
        <p:spPr>
          <a:xfrm xmlns:a="http://schemas.openxmlformats.org/drawingml/2006/main">
            <a:off x="6419850" y="1676400"/>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2D56"/>
                </a:solidFill>
                <a:latin typeface="Arial"/>
                <a:ea typeface="Arial"/>
                <a:cs typeface="Arial"/>
              </a:defRPr>
            </a:defPPr>
          </a:lstStyle>
          <a:p xmlns:a="http://schemas.openxmlformats.org/drawingml/2006/main">
            <a:pPr>
              <a:defRPr sz="2550" b="1">
                <a:solidFill>
                  <a:srgbClr val="002D56"/>
                </a:solidFill>
                <a:latin typeface="Arial"/>
                <a:ea typeface="Arial"/>
                <a:cs typeface="Arial"/>
              </a:defRPr>
            </a:pPr>
            <a:r>
              <a:rPr sz="2550" b="1">
                <a:solidFill>
                  <a:srgbClr val="002D56"/>
                </a:solidFill>
                <a:latin typeface="Arial"/>
                <a:ea typeface="Arial"/>
                <a:cs typeface="Arial"/>
              </a:rPr>
              <a:t>04</a:t>
            </a:r>
          </a:p>
        </p:txBody>
      </p:sp>
      <p:sp>
        <p:nvSpPr>
          <p:cNvPr id="14" name="text-13">
            <a:extLst xmlns:a="http://schemas.openxmlformats.org/drawingml/2006/main">
              <a:ext uri="{FF2B5EF4-FFF2-40B4-BE49-F238E27FC236}">
                <a16:creationId xmlns:a16="http://schemas.microsoft.com/office/drawing/2014/main" id="{A214173F-0B3C-4F57-8011-FC017CB33DEC}"/>
              </a:ext>
            </a:extLst>
          </p:cNvPr>
          <p:cNvSpPr>
            <a:spLocks xmlns:a="http://schemas.openxmlformats.org/drawingml/2006/main" noGrp="1"/>
          </p:cNvSpPr>
          <p:nvPr/>
        </p:nvSpPr>
        <p:spPr>
          <a:xfrm xmlns:a="http://schemas.openxmlformats.org/drawingml/2006/main">
            <a:off x="7239000" y="16764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Programación</a:t>
            </a:r>
          </a:p>
        </p:txBody>
      </p:sp>
      <p:sp>
        <p:nvSpPr>
          <p:cNvPr id="15" name="text-14">
            <a:extLst xmlns:a="http://schemas.openxmlformats.org/drawingml/2006/main">
              <a:ext uri="{FF2B5EF4-FFF2-40B4-BE49-F238E27FC236}">
                <a16:creationId xmlns:a16="http://schemas.microsoft.com/office/drawing/2014/main" id="{A8939228-50C2-4EC4-AEF5-BC74A49A3646}"/>
              </a:ext>
            </a:extLst>
          </p:cNvPr>
          <p:cNvSpPr>
            <a:spLocks xmlns:a="http://schemas.openxmlformats.org/drawingml/2006/main" noGrp="1"/>
          </p:cNvSpPr>
          <p:nvPr/>
        </p:nvSpPr>
        <p:spPr>
          <a:xfrm xmlns:a="http://schemas.openxmlformats.org/drawingml/2006/main">
            <a:off x="7239000" y="2143125"/>
            <a:ext cx="438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24D"/>
                </a:solidFill>
                <a:latin typeface="Arial"/>
                <a:ea typeface="Arial"/>
                <a:cs typeface="Arial"/>
              </a:defRPr>
            </a:defPPr>
          </a:lstStyle>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Destino, fechas y franjas horarias.</a:t>
            </a:r>
          </a:p>
        </p:txBody>
      </p:sp>
      <p:sp>
        <p:nvSpPr>
          <p:cNvPr id="16" name="text-15">
            <a:extLst xmlns:a="http://schemas.openxmlformats.org/drawingml/2006/main">
              <a:ext uri="{FF2B5EF4-FFF2-40B4-BE49-F238E27FC236}">
                <a16:creationId xmlns:a16="http://schemas.microsoft.com/office/drawing/2014/main" id="{B60C7233-6277-41F4-8898-0F1A04470ABF}"/>
              </a:ext>
            </a:extLst>
          </p:cNvPr>
          <p:cNvSpPr>
            <a:spLocks xmlns:a="http://schemas.openxmlformats.org/drawingml/2006/main" noGrp="1"/>
          </p:cNvSpPr>
          <p:nvPr/>
        </p:nvSpPr>
        <p:spPr>
          <a:xfrm xmlns:a="http://schemas.openxmlformats.org/drawingml/2006/main">
            <a:off x="6419850" y="3057525"/>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2D56"/>
                </a:solidFill>
                <a:latin typeface="Arial"/>
                <a:ea typeface="Arial"/>
                <a:cs typeface="Arial"/>
              </a:defRPr>
            </a:defPPr>
          </a:lstStyle>
          <a:p xmlns:a="http://schemas.openxmlformats.org/drawingml/2006/main">
            <a:pPr>
              <a:defRPr sz="2550" b="1">
                <a:solidFill>
                  <a:srgbClr val="002D56"/>
                </a:solidFill>
                <a:latin typeface="Arial"/>
                <a:ea typeface="Arial"/>
                <a:cs typeface="Arial"/>
              </a:defRPr>
            </a:pPr>
            <a:r>
              <a:rPr sz="2550" b="1">
                <a:solidFill>
                  <a:srgbClr val="002D56"/>
                </a:solidFill>
                <a:latin typeface="Arial"/>
                <a:ea typeface="Arial"/>
                <a:cs typeface="Arial"/>
              </a:rPr>
              <a:t>05</a:t>
            </a:r>
          </a:p>
        </p:txBody>
      </p:sp>
      <p:sp>
        <p:nvSpPr>
          <p:cNvPr id="17" name="text-16">
            <a:extLst xmlns:a="http://schemas.openxmlformats.org/drawingml/2006/main">
              <a:ext uri="{FF2B5EF4-FFF2-40B4-BE49-F238E27FC236}">
                <a16:creationId xmlns:a16="http://schemas.microsoft.com/office/drawing/2014/main" id="{11EA6ECE-4C5B-4507-B2D9-2FD1B44D8859}"/>
              </a:ext>
            </a:extLst>
          </p:cNvPr>
          <p:cNvSpPr>
            <a:spLocks xmlns:a="http://schemas.openxmlformats.org/drawingml/2006/main" noGrp="1"/>
          </p:cNvSpPr>
          <p:nvPr/>
        </p:nvSpPr>
        <p:spPr>
          <a:xfrm xmlns:a="http://schemas.openxmlformats.org/drawingml/2006/main">
            <a:off x="7239000" y="30575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Sincronización</a:t>
            </a:r>
          </a:p>
        </p:txBody>
      </p:sp>
      <p:sp>
        <p:nvSpPr>
          <p:cNvPr id="18" name="text-17">
            <a:extLst xmlns:a="http://schemas.openxmlformats.org/drawingml/2006/main">
              <a:ext uri="{FF2B5EF4-FFF2-40B4-BE49-F238E27FC236}">
                <a16:creationId xmlns:a16="http://schemas.microsoft.com/office/drawing/2014/main" id="{773D847B-DF6B-4D79-B4FC-EA67255017FC}"/>
              </a:ext>
            </a:extLst>
          </p:cNvPr>
          <p:cNvSpPr>
            <a:spLocks xmlns:a="http://schemas.openxmlformats.org/drawingml/2006/main" noGrp="1"/>
          </p:cNvSpPr>
          <p:nvPr/>
        </p:nvSpPr>
        <p:spPr>
          <a:xfrm xmlns:a="http://schemas.openxmlformats.org/drawingml/2006/main">
            <a:off x="7239000" y="3524250"/>
            <a:ext cx="438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24D"/>
                </a:solidFill>
                <a:latin typeface="Arial"/>
                <a:ea typeface="Arial"/>
                <a:cs typeface="Arial"/>
              </a:defRPr>
            </a:defPPr>
          </a:lstStyle>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API y almacenamiento local del Player.</a:t>
            </a:r>
          </a:p>
        </p:txBody>
      </p:sp>
      <p:sp>
        <p:nvSpPr>
          <p:cNvPr id="19" name="text-18">
            <a:extLst xmlns:a="http://schemas.openxmlformats.org/drawingml/2006/main">
              <a:ext uri="{FF2B5EF4-FFF2-40B4-BE49-F238E27FC236}">
                <a16:creationId xmlns:a16="http://schemas.microsoft.com/office/drawing/2014/main" id="{9E81BE7B-05F9-4AE9-AD87-B152D404B850}"/>
              </a:ext>
            </a:extLst>
          </p:cNvPr>
          <p:cNvSpPr>
            <a:spLocks xmlns:a="http://schemas.openxmlformats.org/drawingml/2006/main" noGrp="1"/>
          </p:cNvSpPr>
          <p:nvPr/>
        </p:nvSpPr>
        <p:spPr>
          <a:xfrm xmlns:a="http://schemas.openxmlformats.org/drawingml/2006/main">
            <a:off x="6419850" y="4438650"/>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2D56"/>
                </a:solidFill>
                <a:latin typeface="Arial"/>
                <a:ea typeface="Arial"/>
                <a:cs typeface="Arial"/>
              </a:defRPr>
            </a:defPPr>
          </a:lstStyle>
          <a:p xmlns:a="http://schemas.openxmlformats.org/drawingml/2006/main">
            <a:pPr>
              <a:defRPr sz="2550" b="1">
                <a:solidFill>
                  <a:srgbClr val="002D56"/>
                </a:solidFill>
                <a:latin typeface="Arial"/>
                <a:ea typeface="Arial"/>
                <a:cs typeface="Arial"/>
              </a:defRPr>
            </a:pPr>
            <a:r>
              <a:rPr sz="2550" b="1">
                <a:solidFill>
                  <a:srgbClr val="002D56"/>
                </a:solidFill>
                <a:latin typeface="Arial"/>
                <a:ea typeface="Arial"/>
                <a:cs typeface="Arial"/>
              </a:rPr>
              <a:t>06</a:t>
            </a:r>
          </a:p>
        </p:txBody>
      </p:sp>
      <p:sp>
        <p:nvSpPr>
          <p:cNvPr id="20" name="text-19">
            <a:extLst xmlns:a="http://schemas.openxmlformats.org/drawingml/2006/main">
              <a:ext uri="{FF2B5EF4-FFF2-40B4-BE49-F238E27FC236}">
                <a16:creationId xmlns:a16="http://schemas.microsoft.com/office/drawing/2014/main" id="{B6BDCEC3-4C30-4F11-9575-516D5B7AEEA8}"/>
              </a:ext>
            </a:extLst>
          </p:cNvPr>
          <p:cNvSpPr>
            <a:spLocks xmlns:a="http://schemas.openxmlformats.org/drawingml/2006/main" noGrp="1"/>
          </p:cNvSpPr>
          <p:nvPr/>
        </p:nvSpPr>
        <p:spPr>
          <a:xfrm xmlns:a="http://schemas.openxmlformats.org/drawingml/2006/main">
            <a:off x="7239000" y="443865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Reproducción</a:t>
            </a:r>
          </a:p>
        </p:txBody>
      </p:sp>
      <p:sp>
        <p:nvSpPr>
          <p:cNvPr id="21" name="text-20">
            <a:extLst xmlns:a="http://schemas.openxmlformats.org/drawingml/2006/main">
              <a:ext uri="{FF2B5EF4-FFF2-40B4-BE49-F238E27FC236}">
                <a16:creationId xmlns:a16="http://schemas.microsoft.com/office/drawing/2014/main" id="{E2DE7E07-8D7C-44CC-BD59-A8F630573DA4}"/>
              </a:ext>
            </a:extLst>
          </p:cNvPr>
          <p:cNvSpPr>
            <a:spLocks xmlns:a="http://schemas.openxmlformats.org/drawingml/2006/main" noGrp="1"/>
          </p:cNvSpPr>
          <p:nvPr/>
        </p:nvSpPr>
        <p:spPr>
          <a:xfrm xmlns:a="http://schemas.openxmlformats.org/drawingml/2006/main">
            <a:off x="7239000" y="4905375"/>
            <a:ext cx="438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324D"/>
                </a:solidFill>
                <a:latin typeface="Arial"/>
                <a:ea typeface="Arial"/>
                <a:cs typeface="Arial"/>
              </a:defRPr>
            </a:defPPr>
          </a:lstStyle>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Contenido desde caché, incluso sin red.</a:t>
            </a:r>
          </a:p>
        </p:txBody>
      </p:sp>
      <p:sp>
        <p:nvSpPr>
          <p:cNvPr id="22" name="text-21">
            <a:extLst xmlns:a="http://schemas.openxmlformats.org/drawingml/2006/main">
              <a:ext uri="{FF2B5EF4-FFF2-40B4-BE49-F238E27FC236}">
                <a16:creationId xmlns:a16="http://schemas.microsoft.com/office/drawing/2014/main" id="{CE81126D-BFA8-46E3-823B-BA95C31663D5}"/>
              </a:ext>
            </a:extLst>
          </p:cNvPr>
          <p:cNvSpPr>
            <a:spLocks xmlns:a="http://schemas.openxmlformats.org/drawingml/2006/main" noGrp="1"/>
          </p:cNvSpPr>
          <p:nvPr/>
        </p:nvSpPr>
        <p:spPr>
          <a:xfrm xmlns:a="http://schemas.openxmlformats.org/drawingml/2006/main">
            <a:off x="609600" y="59817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7"/>
                </a:solidFill>
                <a:latin typeface="Arial"/>
                <a:ea typeface="Arial"/>
                <a:cs typeface="Arial"/>
              </a:defRPr>
            </a:defPPr>
          </a:lstStyle>
          <a:p xmlns:a="http://schemas.openxmlformats.org/drawingml/2006/main">
            <a:pPr>
              <a:defRPr sz="1350" b="0">
                <a:solidFill>
                  <a:srgbClr val="526777"/>
                </a:solidFill>
                <a:latin typeface="Arial"/>
                <a:ea typeface="Arial"/>
                <a:cs typeface="Arial"/>
              </a:defRPr>
            </a:pPr>
            <a:r>
              <a:rPr sz="1350" b="0">
                <a:solidFill>
                  <a:srgbClr val="526777"/>
                </a:solidFill>
                <a:latin typeface="Arial"/>
                <a:ea typeface="Arial"/>
                <a:cs typeface="Arial"/>
              </a:rPr>
              <a:t>El corte integra el recorrido principal en computadores de desarrollo.</a:t>
            </a:r>
          </a:p>
        </p:txBody>
      </p:sp>
    </p:spTree>
    <p:extLst>
      <p:ext uri="{BB962C8B-B14F-4D97-AF65-F5344CB8AC3E}">
        <p14:creationId xmlns:p14="http://schemas.microsoft.com/office/powerpoint/2010/main" val="10502291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43A5EB3-72F6-4206-A39D-44B2510F7CCD}"/>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Arquitectura del sistema</a:t>
            </a:r>
          </a:p>
        </p:txBody>
      </p:sp>
      <p:sp>
        <p:nvSpPr>
          <p:cNvPr id="2" name="text-1">
            <a:extLst xmlns:a="http://schemas.openxmlformats.org/drawingml/2006/main">
              <a:ext uri="{FF2B5EF4-FFF2-40B4-BE49-F238E27FC236}">
                <a16:creationId xmlns:a16="http://schemas.microsoft.com/office/drawing/2014/main" id="{97922C87-8A1F-4140-8073-A9CBD060A406}"/>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32804894-8DCA-419C-A04B-511A313ED01E}"/>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04</a:t>
            </a:r>
          </a:p>
        </p:txBody>
      </p:sp>
      <p:pic>
        <p:nvPicPr>
          <p:cNvPr id="4" name="">
            <a:extLst xmlns:a="http://schemas.openxmlformats.org/drawingml/2006/main">
              <a:ext uri="{FF2B5EF4-FFF2-40B4-BE49-F238E27FC236}">
                <a16:creationId xmlns:a16="http://schemas.microsoft.com/office/drawing/2014/main" id="{BD77428B-9696-4362-A189-A4732D135C4C}"/>
              </a:ext>
            </a:extLst>
          </p:cNvPr>
          <p:cNvPicPr>
            <a:picLocks xmlns:a="http://schemas.openxmlformats.org/drawingml/2006/main" noChangeAspect="1"/>
          </p:cNvPicPr>
          <p:nvPr/>
        </p:nvPicPr>
        <p:blipFill>
          <a:blip xmlns:r="http://schemas.openxmlformats.org/officeDocument/2006/relationships" xmlns:a="http://schemas.openxmlformats.org/drawingml/2006/main" r:embed="Re5f9260308584f73"/>
          <a:stretch xmlns:a="http://schemas.openxmlformats.org/drawingml/2006/main"/>
        </p:blipFill>
        <p:spPr>
          <a:xfrm xmlns:a="http://schemas.openxmlformats.org/drawingml/2006/main">
            <a:off x="1283200" y="1250000"/>
            <a:ext cx="9625600" cy="47000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C3D9D985-D040-448E-BE34-DF027823B6ED}"/>
              </a:ext>
            </a:extLst>
          </p:cNvPr>
          <p:cNvSpPr>
            <a:spLocks xmlns:a="http://schemas.openxmlformats.org/drawingml/2006/main" noGrp="1"/>
          </p:cNvSpPr>
          <p:nvPr/>
        </p:nvSpPr>
        <p:spPr>
          <a:xfrm xmlns:a="http://schemas.openxmlformats.org/drawingml/2006/main">
            <a:off x="609600" y="60400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7"/>
                </a:solidFill>
                <a:latin typeface="Arial"/>
                <a:ea typeface="Arial"/>
                <a:cs typeface="Arial"/>
              </a:defRPr>
            </a:defPPr>
          </a:lstStyle>
          <a:p xmlns:a="http://schemas.openxmlformats.org/drawingml/2006/main">
            <a:pPr>
              <a:defRPr sz="1350" b="0">
                <a:solidFill>
                  <a:srgbClr val="526777"/>
                </a:solidFill>
                <a:latin typeface="Arial"/>
                <a:ea typeface="Arial"/>
                <a:cs typeface="Arial"/>
              </a:defRPr>
            </a:pPr>
            <a:r>
              <a:rPr sz="1350" b="0">
                <a:solidFill>
                  <a:srgbClr val="526777"/>
                </a:solidFill>
                <a:latin typeface="Arial"/>
                <a:ea typeface="Arial"/>
                <a:cs typeface="Arial"/>
              </a:rPr>
              <a:t>Sondeo HTTP cada 30 s. El esquema no acredita mediciones de 60 fps ni validación en NUC.</a:t>
            </a:r>
          </a:p>
        </p:txBody>
      </p:sp>
    </p:spTree>
    <p:extLst>
      <p:ext uri="{BB962C8B-B14F-4D97-AF65-F5344CB8AC3E}">
        <p14:creationId xmlns:p14="http://schemas.microsoft.com/office/powerpoint/2010/main" val="850456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D79E3B6-CF77-488F-9103-FD3F49AA0285}"/>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Administración centralizada</a:t>
            </a:r>
          </a:p>
        </p:txBody>
      </p:sp>
      <p:sp>
        <p:nvSpPr>
          <p:cNvPr id="2" name="text-1">
            <a:extLst xmlns:a="http://schemas.openxmlformats.org/drawingml/2006/main">
              <a:ext uri="{FF2B5EF4-FFF2-40B4-BE49-F238E27FC236}">
                <a16:creationId xmlns:a16="http://schemas.microsoft.com/office/drawing/2014/main" id="{28EBD218-309A-4533-964B-FEAE74CE3F0D}"/>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D9A1708B-91F8-4992-90B7-DAFB82F00E98}"/>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05</a:t>
            </a:r>
          </a:p>
        </p:txBody>
      </p:sp>
      <p:sp>
        <p:nvSpPr>
          <p:cNvPr id="4" name="text-3">
            <a:extLst xmlns:a="http://schemas.openxmlformats.org/drawingml/2006/main">
              <a:ext uri="{FF2B5EF4-FFF2-40B4-BE49-F238E27FC236}">
                <a16:creationId xmlns:a16="http://schemas.microsoft.com/office/drawing/2014/main" id="{2D5FF28C-CF7E-4880-A4AE-B63C45CAA89F}"/>
              </a:ext>
            </a:extLst>
          </p:cNvPr>
          <p:cNvSpPr>
            <a:spLocks xmlns:a="http://schemas.openxmlformats.org/drawingml/2006/main" noGrp="1"/>
          </p:cNvSpPr>
          <p:nvPr/>
        </p:nvSpPr>
        <p:spPr>
          <a:xfrm xmlns:a="http://schemas.openxmlformats.org/drawingml/2006/main">
            <a:off x="609600" y="1800225"/>
            <a:ext cx="3810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002D56"/>
                </a:solidFill>
                <a:latin typeface="Arial"/>
                <a:ea typeface="Arial"/>
                <a:cs typeface="Arial"/>
              </a:defRPr>
            </a:defPPr>
          </a:lstStyle>
          <a:p xmlns:a="http://schemas.openxmlformats.org/drawingml/2006/main">
            <a:pPr>
              <a:defRPr sz="2775" b="1">
                <a:solidFill>
                  <a:srgbClr val="002D56"/>
                </a:solidFill>
                <a:latin typeface="Arial"/>
                <a:ea typeface="Arial"/>
                <a:cs typeface="Arial"/>
              </a:defRPr>
            </a:pPr>
            <a:r>
              <a:rPr sz="2775" b="1">
                <a:solidFill>
                  <a:srgbClr val="002D56"/>
                </a:solidFill>
                <a:latin typeface="Arial"/>
                <a:ea typeface="Arial"/>
                <a:cs typeface="Arial"/>
              </a:rPr>
              <a:t>Un panel para</a:t>
            </a:r>
          </a:p>
          <a:p xmlns:a="http://schemas.openxmlformats.org/drawingml/2006/main">
            <a:pPr>
              <a:defRPr sz="2775" b="1">
                <a:solidFill>
                  <a:srgbClr val="002D56"/>
                </a:solidFill>
                <a:latin typeface="Arial"/>
                <a:ea typeface="Arial"/>
                <a:cs typeface="Arial"/>
              </a:defRPr>
            </a:pPr>
            <a:r>
              <a:rPr sz="2775" b="1">
                <a:solidFill>
                  <a:srgbClr val="002D56"/>
                </a:solidFill>
                <a:latin typeface="Arial"/>
                <a:ea typeface="Arial"/>
                <a:cs typeface="Arial"/>
              </a:rPr>
              <a:t>la operación diaria</a:t>
            </a:r>
          </a:p>
        </p:txBody>
      </p:sp>
      <p:sp>
        <p:nvSpPr>
          <p:cNvPr id="5" name="text-4">
            <a:extLst xmlns:a="http://schemas.openxmlformats.org/drawingml/2006/main">
              <a:ext uri="{FF2B5EF4-FFF2-40B4-BE49-F238E27FC236}">
                <a16:creationId xmlns:a16="http://schemas.microsoft.com/office/drawing/2014/main" id="{49E9EFC1-48D6-44DA-8356-341CFE5A74A0}"/>
              </a:ext>
            </a:extLst>
          </p:cNvPr>
          <p:cNvSpPr>
            <a:spLocks xmlns:a="http://schemas.openxmlformats.org/drawingml/2006/main" noGrp="1"/>
          </p:cNvSpPr>
          <p:nvPr/>
        </p:nvSpPr>
        <p:spPr>
          <a:xfrm xmlns:a="http://schemas.openxmlformats.org/drawingml/2006/main">
            <a:off x="609600" y="3200400"/>
            <a:ext cx="3810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24D"/>
                </a:solidFill>
                <a:latin typeface="Arial"/>
                <a:ea typeface="Arial"/>
                <a:cs typeface="Arial"/>
              </a:defRPr>
            </a:defPPr>
          </a:lstStyle>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Locaciones y pantallas</a:t>
            </a:r>
          </a:p>
          <a:p xmlns:a="http://schemas.openxmlformats.org/drawingml/2006/main">
            <a:r>
              <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Biblioteca de contenido</a:t>
            </a:r>
          </a:p>
          <a:p xmlns:a="http://schemas.openxmlformats.org/drawingml/2006/main">
            <a:r>
              <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Playlists y programación</a:t>
            </a:r>
          </a:p>
        </p:txBody>
      </p:sp>
      <p:pic>
        <p:nvPicPr>
          <p:cNvPr id="6" name="">
            <a:extLst xmlns:a="http://schemas.openxmlformats.org/drawingml/2006/main">
              <a:ext uri="{FF2B5EF4-FFF2-40B4-BE49-F238E27FC236}">
                <a16:creationId xmlns:a16="http://schemas.microsoft.com/office/drawing/2014/main" id="{5576715F-4C4D-47E7-93DA-C6CED497E689}"/>
              </a:ext>
            </a:extLst>
          </p:cNvPr>
          <p:cNvPicPr>
            <a:picLocks xmlns:a="http://schemas.openxmlformats.org/drawingml/2006/main" noChangeAspect="1"/>
          </p:cNvPicPr>
          <p:nvPr/>
        </p:nvPicPr>
        <p:blipFill>
          <a:blip xmlns:r="http://schemas.openxmlformats.org/officeDocument/2006/relationships" xmlns:a="http://schemas.openxmlformats.org/drawingml/2006/main" r:embed="Rab96f1b1926c43c6"/>
          <a:stretch xmlns:a="http://schemas.openxmlformats.org/drawingml/2006/main"/>
        </p:blipFill>
        <p:spPr>
          <a:xfrm xmlns:a="http://schemas.openxmlformats.org/drawingml/2006/main">
            <a:off x="5222783" y="1447800"/>
            <a:ext cx="5842184" cy="4286250"/>
          </a:xfrm>
          <a:prstGeom xmlns:a="http://schemas.openxmlformats.org/drawingml/2006/main" prst="rect">
            <a:avLst/>
          </a:prstGeom>
        </p:spPr>
      </p:pic>
      <p:sp>
        <p:nvSpPr>
          <p:cNvPr id="7" name="text-5">
            <a:extLst xmlns:a="http://schemas.openxmlformats.org/drawingml/2006/main">
              <a:ext uri="{FF2B5EF4-FFF2-40B4-BE49-F238E27FC236}">
                <a16:creationId xmlns:a16="http://schemas.microsoft.com/office/drawing/2014/main" id="{A4F1F855-DE8A-424F-9820-7508BC4E8648}"/>
              </a:ext>
            </a:extLst>
          </p:cNvPr>
          <p:cNvSpPr>
            <a:spLocks xmlns:a="http://schemas.openxmlformats.org/drawingml/2006/main" noGrp="1"/>
          </p:cNvSpPr>
          <p:nvPr/>
        </p:nvSpPr>
        <p:spPr>
          <a:xfrm xmlns:a="http://schemas.openxmlformats.org/drawingml/2006/main">
            <a:off x="609600" y="59817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7"/>
                </a:solidFill>
                <a:latin typeface="Arial"/>
                <a:ea typeface="Arial"/>
                <a:cs typeface="Arial"/>
              </a:defRPr>
            </a:defPPr>
          </a:lstStyle>
          <a:p xmlns:a="http://schemas.openxmlformats.org/drawingml/2006/main">
            <a:pPr>
              <a:defRPr sz="1350" b="0">
                <a:solidFill>
                  <a:srgbClr val="526777"/>
                </a:solidFill>
                <a:latin typeface="Arial"/>
                <a:ea typeface="Arial"/>
                <a:cs typeface="Arial"/>
              </a:defRPr>
            </a:pPr>
            <a:r>
              <a:rPr sz="1350" b="0">
                <a:solidFill>
                  <a:srgbClr val="526777"/>
                </a:solidFill>
                <a:latin typeface="Arial"/>
                <a:ea typeface="Arial"/>
                <a:cs typeface="Arial"/>
              </a:rPr>
              <a:t>Captura del 14 de octubre. Los nombres de los contadores se aclararon el día 15.</a:t>
            </a:r>
          </a:p>
        </p:txBody>
      </p:sp>
    </p:spTree>
    <p:extLst>
      <p:ext uri="{BB962C8B-B14F-4D97-AF65-F5344CB8AC3E}">
        <p14:creationId xmlns:p14="http://schemas.microsoft.com/office/powerpoint/2010/main" val="14756797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F11CD9A3-CF90-49A4-8343-C93310B82715}"/>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Contenido y playlists reutilizables</a:t>
            </a:r>
          </a:p>
        </p:txBody>
      </p:sp>
      <p:sp>
        <p:nvSpPr>
          <p:cNvPr id="2" name="text-1">
            <a:extLst xmlns:a="http://schemas.openxmlformats.org/drawingml/2006/main">
              <a:ext uri="{FF2B5EF4-FFF2-40B4-BE49-F238E27FC236}">
                <a16:creationId xmlns:a16="http://schemas.microsoft.com/office/drawing/2014/main" id="{2CC70382-86CB-4E76-8FAC-D8D6B6930625}"/>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4AE1F4B5-C526-46DB-B9A4-0BAC09288A33}"/>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E596796E-DEC6-45FA-B2E9-C2D0BFFFAE03}"/>
              </a:ext>
            </a:extLst>
          </p:cNvPr>
          <p:cNvPicPr>
            <a:picLocks xmlns:a="http://schemas.openxmlformats.org/drawingml/2006/main" noChangeAspect="1"/>
          </p:cNvPicPr>
          <p:nvPr/>
        </p:nvPicPr>
        <p:blipFill>
          <a:blip xmlns:r="http://schemas.openxmlformats.org/officeDocument/2006/relationships" xmlns:a="http://schemas.openxmlformats.org/drawingml/2006/main" r:embed="R11ff2ece73e4469e"/>
          <a:stretch xmlns:a="http://schemas.openxmlformats.org/drawingml/2006/main"/>
        </p:blipFill>
        <p:spPr>
          <a:xfrm xmlns:a="http://schemas.openxmlformats.org/drawingml/2006/main">
            <a:off x="1007567" y="1562100"/>
            <a:ext cx="4442817" cy="34956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571FB138-B01A-402B-AC22-BAAF77582D57}"/>
              </a:ext>
            </a:extLst>
          </p:cNvPr>
          <p:cNvPicPr>
            <a:picLocks xmlns:a="http://schemas.openxmlformats.org/drawingml/2006/main" noChangeAspect="1"/>
          </p:cNvPicPr>
          <p:nvPr/>
        </p:nvPicPr>
        <p:blipFill>
          <a:blip xmlns:r="http://schemas.openxmlformats.org/officeDocument/2006/relationships" xmlns:a="http://schemas.openxmlformats.org/drawingml/2006/main" r:embed="R6c36b9a8c36945b2"/>
          <a:stretch xmlns:a="http://schemas.openxmlformats.org/drawingml/2006/main"/>
        </p:blipFill>
        <p:spPr>
          <a:xfrm xmlns:a="http://schemas.openxmlformats.org/drawingml/2006/main">
            <a:off x="6286500" y="1797372"/>
            <a:ext cx="5238750" cy="302513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F28D26E5-1D41-428D-8C82-62812AA5E870}"/>
              </a:ext>
            </a:extLst>
          </p:cNvPr>
          <p:cNvSpPr>
            <a:spLocks xmlns:a="http://schemas.openxmlformats.org/drawingml/2006/main" noGrp="1"/>
          </p:cNvSpPr>
          <p:nvPr/>
        </p:nvSpPr>
        <p:spPr>
          <a:xfrm xmlns:a="http://schemas.openxmlformats.org/drawingml/2006/main">
            <a:off x="609600" y="52197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2D56"/>
                </a:solidFill>
                <a:latin typeface="Arial"/>
                <a:ea typeface="Arial"/>
                <a:cs typeface="Arial"/>
              </a:defRPr>
            </a:defPPr>
          </a:lstStyle>
          <a:p xmlns:a="http://schemas.openxmlformats.org/drawingml/2006/main">
            <a:pPr>
              <a:defRPr sz="2250" b="1">
                <a:solidFill>
                  <a:srgbClr val="002D56"/>
                </a:solidFill>
                <a:latin typeface="Arial"/>
                <a:ea typeface="Arial"/>
                <a:cs typeface="Arial"/>
              </a:defRPr>
            </a:pPr>
            <a:r>
              <a:rPr sz="2250" b="1">
                <a:solidFill>
                  <a:srgbClr val="002D56"/>
                </a:solidFill>
                <a:latin typeface="Arial"/>
                <a:ea typeface="Arial"/>
                <a:cs typeface="Arial"/>
              </a:rPr>
              <a:t>Biblioteca</a:t>
            </a:r>
          </a:p>
        </p:txBody>
      </p:sp>
      <p:sp>
        <p:nvSpPr>
          <p:cNvPr id="7" name="text-4">
            <a:extLst xmlns:a="http://schemas.openxmlformats.org/drawingml/2006/main">
              <a:ext uri="{FF2B5EF4-FFF2-40B4-BE49-F238E27FC236}">
                <a16:creationId xmlns:a16="http://schemas.microsoft.com/office/drawing/2014/main" id="{E09CB9D7-8341-4A8F-9DB8-308FD0714E2C}"/>
              </a:ext>
            </a:extLst>
          </p:cNvPr>
          <p:cNvSpPr>
            <a:spLocks xmlns:a="http://schemas.openxmlformats.org/drawingml/2006/main" noGrp="1"/>
          </p:cNvSpPr>
          <p:nvPr/>
        </p:nvSpPr>
        <p:spPr>
          <a:xfrm xmlns:a="http://schemas.openxmlformats.org/drawingml/2006/main">
            <a:off x="609600" y="5657850"/>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324D"/>
                </a:solidFill>
                <a:latin typeface="Arial"/>
                <a:ea typeface="Arial"/>
                <a:cs typeface="Arial"/>
              </a:defRPr>
            </a:def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6 medios registrados: imágenes JPG y videos MP4.</a:t>
            </a:r>
          </a:p>
        </p:txBody>
      </p:sp>
      <p:sp>
        <p:nvSpPr>
          <p:cNvPr id="8" name="text-5">
            <a:extLst xmlns:a="http://schemas.openxmlformats.org/drawingml/2006/main">
              <a:ext uri="{FF2B5EF4-FFF2-40B4-BE49-F238E27FC236}">
                <a16:creationId xmlns:a16="http://schemas.microsoft.com/office/drawing/2014/main" id="{A382884C-C95E-412A-BF8F-210F0944E5A7}"/>
              </a:ext>
            </a:extLst>
          </p:cNvPr>
          <p:cNvSpPr>
            <a:spLocks xmlns:a="http://schemas.openxmlformats.org/drawingml/2006/main" noGrp="1"/>
          </p:cNvSpPr>
          <p:nvPr/>
        </p:nvSpPr>
        <p:spPr>
          <a:xfrm xmlns:a="http://schemas.openxmlformats.org/drawingml/2006/main">
            <a:off x="6286500" y="52197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2D56"/>
                </a:solidFill>
                <a:latin typeface="Arial"/>
                <a:ea typeface="Arial"/>
                <a:cs typeface="Arial"/>
              </a:defRPr>
            </a:defPPr>
          </a:lstStyle>
          <a:p xmlns:a="http://schemas.openxmlformats.org/drawingml/2006/main">
            <a:pPr>
              <a:defRPr sz="2250" b="1">
                <a:solidFill>
                  <a:srgbClr val="002D56"/>
                </a:solidFill>
                <a:latin typeface="Arial"/>
                <a:ea typeface="Arial"/>
                <a:cs typeface="Arial"/>
              </a:defRPr>
            </a:pPr>
            <a:r>
              <a:rPr sz="2250" b="1">
                <a:solidFill>
                  <a:srgbClr val="002D56"/>
                </a:solidFill>
                <a:latin typeface="Arial"/>
                <a:ea typeface="Arial"/>
                <a:cs typeface="Arial"/>
              </a:rPr>
              <a:t>Playlist</a:t>
            </a:r>
          </a:p>
        </p:txBody>
      </p:sp>
      <p:sp>
        <p:nvSpPr>
          <p:cNvPr id="9" name="text-6">
            <a:extLst xmlns:a="http://schemas.openxmlformats.org/drawingml/2006/main">
              <a:ext uri="{FF2B5EF4-FFF2-40B4-BE49-F238E27FC236}">
                <a16:creationId xmlns:a16="http://schemas.microsoft.com/office/drawing/2014/main" id="{05052B29-6DD4-41CD-AF1F-FDCC8452B649}"/>
              </a:ext>
            </a:extLst>
          </p:cNvPr>
          <p:cNvSpPr>
            <a:spLocks xmlns:a="http://schemas.openxmlformats.org/drawingml/2006/main" noGrp="1"/>
          </p:cNvSpPr>
          <p:nvPr/>
        </p:nvSpPr>
        <p:spPr>
          <a:xfrm xmlns:a="http://schemas.openxmlformats.org/drawingml/2006/main">
            <a:off x="6286500" y="5657850"/>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324D"/>
                </a:solidFill>
                <a:latin typeface="Arial"/>
                <a:ea typeface="Arial"/>
                <a:cs typeface="Arial"/>
              </a:defRPr>
            </a:def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5 elementos en una lista reutilizable de MUT.</a:t>
            </a:r>
          </a:p>
        </p:txBody>
      </p:sp>
    </p:spTree>
    <p:extLst>
      <p:ext uri="{BB962C8B-B14F-4D97-AF65-F5344CB8AC3E}">
        <p14:creationId xmlns:p14="http://schemas.microsoft.com/office/powerpoint/2010/main" val="9755678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A0A489A-4422-4FE6-9640-A3799CF51336}"/>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Programación por destino y horario</a:t>
            </a:r>
          </a:p>
        </p:txBody>
      </p:sp>
      <p:sp>
        <p:nvSpPr>
          <p:cNvPr id="2" name="text-1">
            <a:extLst xmlns:a="http://schemas.openxmlformats.org/drawingml/2006/main">
              <a:ext uri="{FF2B5EF4-FFF2-40B4-BE49-F238E27FC236}">
                <a16:creationId xmlns:a16="http://schemas.microsoft.com/office/drawing/2014/main" id="{A7C2FFC3-74FD-4172-8F59-1872BB2F596A}"/>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D881E171-FB46-474E-960F-E285E2579D1E}"/>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1E2F051C-6F61-4767-B9C5-47FC90C9A33B}"/>
              </a:ext>
            </a:extLst>
          </p:cNvPr>
          <p:cNvSpPr>
            <a:spLocks xmlns:a="http://schemas.openxmlformats.org/drawingml/2006/main" noGrp="1"/>
          </p:cNvSpPr>
          <p:nvPr/>
        </p:nvSpPr>
        <p:spPr>
          <a:xfrm xmlns:a="http://schemas.openxmlformats.org/drawingml/2006/main">
            <a:off x="609600" y="1809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2D56"/>
                </a:solidFill>
                <a:latin typeface="Arial"/>
                <a:ea typeface="Arial"/>
                <a:cs typeface="Arial"/>
              </a:defRPr>
            </a:defPPr>
          </a:lstStyle>
          <a:p xmlns:a="http://schemas.openxmlformats.org/drawingml/2006/main">
            <a:pPr>
              <a:defRPr sz="2250" b="1">
                <a:solidFill>
                  <a:srgbClr val="002D56"/>
                </a:solidFill>
                <a:latin typeface="Arial"/>
                <a:ea typeface="Arial"/>
                <a:cs typeface="Arial"/>
              </a:defRPr>
            </a:pPr>
            <a:r>
              <a:rPr sz="2250" b="1">
                <a:solidFill>
                  <a:srgbClr val="002D56"/>
                </a:solidFill>
                <a:latin typeface="Arial"/>
                <a:ea typeface="Arial"/>
                <a:cs typeface="Arial"/>
              </a:rPr>
              <a:t>Destino</a:t>
            </a:r>
          </a:p>
        </p:txBody>
      </p:sp>
      <p:sp>
        <p:nvSpPr>
          <p:cNvPr id="5" name="text-4">
            <a:extLst xmlns:a="http://schemas.openxmlformats.org/drawingml/2006/main">
              <a:ext uri="{FF2B5EF4-FFF2-40B4-BE49-F238E27FC236}">
                <a16:creationId xmlns:a16="http://schemas.microsoft.com/office/drawing/2014/main" id="{6DD957B6-DB98-4B95-850D-DD305B5886DE}"/>
              </a:ext>
            </a:extLst>
          </p:cNvPr>
          <p:cNvSpPr>
            <a:spLocks xmlns:a="http://schemas.openxmlformats.org/drawingml/2006/main" noGrp="1"/>
          </p:cNvSpPr>
          <p:nvPr/>
        </p:nvSpPr>
        <p:spPr>
          <a:xfrm xmlns:a="http://schemas.openxmlformats.org/drawingml/2006/main">
            <a:off x="609600" y="229552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Una pantalla o un sector.</a:t>
            </a:r>
          </a:p>
        </p:txBody>
      </p:sp>
      <p:sp>
        <p:nvSpPr>
          <p:cNvPr id="6" name="text-5">
            <a:extLst xmlns:a="http://schemas.openxmlformats.org/drawingml/2006/main">
              <a:ext uri="{FF2B5EF4-FFF2-40B4-BE49-F238E27FC236}">
                <a16:creationId xmlns:a16="http://schemas.microsoft.com/office/drawing/2014/main" id="{270C3921-4781-44B7-98BC-7D513E3DC64C}"/>
              </a:ext>
            </a:extLst>
          </p:cNvPr>
          <p:cNvSpPr>
            <a:spLocks xmlns:a="http://schemas.openxmlformats.org/drawingml/2006/main" noGrp="1"/>
          </p:cNvSpPr>
          <p:nvPr/>
        </p:nvSpPr>
        <p:spPr>
          <a:xfrm xmlns:a="http://schemas.openxmlformats.org/drawingml/2006/main">
            <a:off x="609600" y="3495675"/>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2D56"/>
                </a:solidFill>
                <a:latin typeface="Arial"/>
                <a:ea typeface="Arial"/>
                <a:cs typeface="Arial"/>
              </a:defRPr>
            </a:defPPr>
          </a:lstStyle>
          <a:p xmlns:a="http://schemas.openxmlformats.org/drawingml/2006/main">
            <a:pPr>
              <a:defRPr sz="2250" b="1">
                <a:solidFill>
                  <a:srgbClr val="002D56"/>
                </a:solidFill>
                <a:latin typeface="Arial"/>
                <a:ea typeface="Arial"/>
                <a:cs typeface="Arial"/>
              </a:defRPr>
            </a:pPr>
            <a:r>
              <a:rPr sz="2250" b="1">
                <a:solidFill>
                  <a:srgbClr val="002D56"/>
                </a:solidFill>
                <a:latin typeface="Arial"/>
                <a:ea typeface="Arial"/>
                <a:cs typeface="Arial"/>
              </a:rPr>
              <a:t>Vigencia</a:t>
            </a:r>
          </a:p>
        </p:txBody>
      </p:sp>
      <p:sp>
        <p:nvSpPr>
          <p:cNvPr id="7" name="text-6">
            <a:extLst xmlns:a="http://schemas.openxmlformats.org/drawingml/2006/main">
              <a:ext uri="{FF2B5EF4-FFF2-40B4-BE49-F238E27FC236}">
                <a16:creationId xmlns:a16="http://schemas.microsoft.com/office/drawing/2014/main" id="{BDD5CB24-8386-4433-B6BA-9FF070979730}"/>
              </a:ext>
            </a:extLst>
          </p:cNvPr>
          <p:cNvSpPr>
            <a:spLocks xmlns:a="http://schemas.openxmlformats.org/drawingml/2006/main" noGrp="1"/>
          </p:cNvSpPr>
          <p:nvPr/>
        </p:nvSpPr>
        <p:spPr>
          <a:xfrm xmlns:a="http://schemas.openxmlformats.org/drawingml/2006/main">
            <a:off x="609600" y="3981450"/>
            <a:ext cx="3190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Fechas, horario y recurrencia semanal.</a:t>
            </a:r>
          </a:p>
        </p:txBody>
      </p:sp>
      <p:pic>
        <p:nvPicPr>
          <p:cNvPr id="8" name="">
            <a:extLst xmlns:a="http://schemas.openxmlformats.org/drawingml/2006/main">
              <a:ext uri="{FF2B5EF4-FFF2-40B4-BE49-F238E27FC236}">
                <a16:creationId xmlns:a16="http://schemas.microsoft.com/office/drawing/2014/main" id="{68C4FE18-2F37-4F97-8243-7F9169444397}"/>
              </a:ext>
            </a:extLst>
          </p:cNvPr>
          <p:cNvPicPr>
            <a:picLocks xmlns:a="http://schemas.openxmlformats.org/drawingml/2006/main" noChangeAspect="1"/>
          </p:cNvPicPr>
          <p:nvPr/>
        </p:nvPicPr>
        <p:blipFill>
          <a:blip xmlns:r="http://schemas.openxmlformats.org/officeDocument/2006/relationships" xmlns:a="http://schemas.openxmlformats.org/drawingml/2006/main" r:embed="R8d7b5bbcca5347b5"/>
          <a:stretch xmlns:a="http://schemas.openxmlformats.org/drawingml/2006/main"/>
        </p:blipFill>
        <p:spPr>
          <a:xfrm xmlns:a="http://schemas.openxmlformats.org/drawingml/2006/main">
            <a:off x="4519446" y="1628775"/>
            <a:ext cx="6563058" cy="4000500"/>
          </a:xfrm>
          <a:prstGeom xmlns:a="http://schemas.openxmlformats.org/drawingml/2006/main" prst="rect">
            <a:avLst/>
          </a:prstGeom>
        </p:spPr>
      </p:pic>
      <p:sp>
        <p:nvSpPr>
          <p:cNvPr id="9" name="text-7">
            <a:extLst xmlns:a="http://schemas.openxmlformats.org/drawingml/2006/main">
              <a:ext uri="{FF2B5EF4-FFF2-40B4-BE49-F238E27FC236}">
                <a16:creationId xmlns:a16="http://schemas.microsoft.com/office/drawing/2014/main" id="{C3A7002C-1258-4D93-9C52-7C1947E7FF99}"/>
              </a:ext>
            </a:extLst>
          </p:cNvPr>
          <p:cNvSpPr>
            <a:spLocks xmlns:a="http://schemas.openxmlformats.org/drawingml/2006/main" noGrp="1"/>
          </p:cNvSpPr>
          <p:nvPr/>
        </p:nvSpPr>
        <p:spPr>
          <a:xfrm xmlns:a="http://schemas.openxmlformats.org/drawingml/2006/main">
            <a:off x="609600" y="59817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7"/>
                </a:solidFill>
                <a:latin typeface="Arial"/>
                <a:ea typeface="Arial"/>
                <a:cs typeface="Arial"/>
              </a:defRPr>
            </a:defPPr>
          </a:lstStyle>
          <a:p xmlns:a="http://schemas.openxmlformats.org/drawingml/2006/main">
            <a:pPr>
              <a:defRPr sz="1350" b="0">
                <a:solidFill>
                  <a:srgbClr val="526777"/>
                </a:solidFill>
                <a:latin typeface="Arial"/>
                <a:ea typeface="Arial"/>
                <a:cs typeface="Arial"/>
              </a:defRPr>
            </a:pPr>
            <a:r>
              <a:rPr sz="1350" b="0">
                <a:solidFill>
                  <a:srgbClr val="526777"/>
                </a:solidFill>
                <a:latin typeface="Arial"/>
                <a:ea typeface="Arial"/>
                <a:cs typeface="Arial"/>
              </a:rPr>
              <a:t>Ejemplo del 14 de octubre: Playlist 1, de 17:52 a 20:52, en Pantalla 1H-2.</a:t>
            </a:r>
          </a:p>
        </p:txBody>
      </p:sp>
    </p:spTree>
    <p:extLst>
      <p:ext uri="{BB962C8B-B14F-4D97-AF65-F5344CB8AC3E}">
        <p14:creationId xmlns:p14="http://schemas.microsoft.com/office/powerpoint/2010/main" val="8740399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0C1A9D7-825F-4CF3-8B8D-8DD1E0BC8EDB}"/>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Continuidad durante un corte de red</a:t>
            </a:r>
          </a:p>
        </p:txBody>
      </p:sp>
      <p:sp>
        <p:nvSpPr>
          <p:cNvPr id="2" name="text-1">
            <a:extLst xmlns:a="http://schemas.openxmlformats.org/drawingml/2006/main">
              <a:ext uri="{FF2B5EF4-FFF2-40B4-BE49-F238E27FC236}">
                <a16:creationId xmlns:a16="http://schemas.microsoft.com/office/drawing/2014/main" id="{A4AD3419-2153-4FD2-AC18-471F6D122A6E}"/>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C5C52063-B5B9-4449-A088-8A512988BA49}"/>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08</a:t>
            </a:r>
          </a:p>
        </p:txBody>
      </p:sp>
      <p:pic>
        <p:nvPicPr>
          <p:cNvPr id="4" name="">
            <a:extLst xmlns:a="http://schemas.openxmlformats.org/drawingml/2006/main">
              <a:ext uri="{FF2B5EF4-FFF2-40B4-BE49-F238E27FC236}">
                <a16:creationId xmlns:a16="http://schemas.microsoft.com/office/drawing/2014/main" id="{D0C83A2B-2942-40BB-BA9A-99444E207BF6}"/>
              </a:ext>
            </a:extLst>
          </p:cNvPr>
          <p:cNvPicPr>
            <a:picLocks xmlns:a="http://schemas.openxmlformats.org/drawingml/2006/main" noChangeAspect="1"/>
          </p:cNvPicPr>
          <p:nvPr/>
        </p:nvPicPr>
        <p:blipFill>
          <a:blip xmlns:r="http://schemas.openxmlformats.org/officeDocument/2006/relationships" xmlns:a="http://schemas.openxmlformats.org/drawingml/2006/main" r:embed="Rb81ccafab96d46f9"/>
          <a:stretch xmlns:a="http://schemas.openxmlformats.org/drawingml/2006/main"/>
        </p:blipFill>
        <p:spPr>
          <a:xfrm xmlns:a="http://schemas.openxmlformats.org/drawingml/2006/main">
            <a:off x="981514" y="1590675"/>
            <a:ext cx="6742823" cy="42100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561A8041-050F-4784-B111-2D2A2D44C04E}"/>
              </a:ext>
            </a:extLst>
          </p:cNvPr>
          <p:cNvSpPr>
            <a:spLocks xmlns:a="http://schemas.openxmlformats.org/drawingml/2006/main" noGrp="1"/>
          </p:cNvSpPr>
          <p:nvPr/>
        </p:nvSpPr>
        <p:spPr>
          <a:xfrm xmlns:a="http://schemas.openxmlformats.org/drawingml/2006/main">
            <a:off x="8505825" y="1809750"/>
            <a:ext cx="3076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002D56"/>
                </a:solidFill>
                <a:latin typeface="Arial"/>
                <a:ea typeface="Arial"/>
                <a:cs typeface="Arial"/>
              </a:defRPr>
            </a:defPPr>
          </a:lstStyle>
          <a:p xmlns:a="http://schemas.openxmlformats.org/drawingml/2006/main">
            <a:pPr>
              <a:defRPr sz="4950" b="1">
                <a:solidFill>
                  <a:srgbClr val="002D56"/>
                </a:solidFill>
                <a:latin typeface="Arial"/>
                <a:ea typeface="Arial"/>
                <a:cs typeface="Arial"/>
              </a:defRPr>
            </a:pPr>
            <a:r>
              <a:rPr sz="4950" b="1">
                <a:solidFill>
                  <a:srgbClr val="002D56"/>
                </a:solidFill>
                <a:latin typeface="Arial"/>
                <a:ea typeface="Arial"/>
                <a:cs typeface="Arial"/>
              </a:rPr>
              <a:t>≈ 2 min</a:t>
            </a:r>
          </a:p>
        </p:txBody>
      </p:sp>
      <p:sp>
        <p:nvSpPr>
          <p:cNvPr id="6" name="text-4">
            <a:extLst xmlns:a="http://schemas.openxmlformats.org/drawingml/2006/main">
              <a:ext uri="{FF2B5EF4-FFF2-40B4-BE49-F238E27FC236}">
                <a16:creationId xmlns:a16="http://schemas.microsoft.com/office/drawing/2014/main" id="{FC242372-B21B-46F2-8AA4-1F59D0C0AD6E}"/>
              </a:ext>
            </a:extLst>
          </p:cNvPr>
          <p:cNvSpPr>
            <a:spLocks xmlns:a="http://schemas.openxmlformats.org/drawingml/2006/main" noGrp="1"/>
          </p:cNvSpPr>
          <p:nvPr/>
        </p:nvSpPr>
        <p:spPr>
          <a:xfrm xmlns:a="http://schemas.openxmlformats.org/drawingml/2006/main">
            <a:off x="8524875" y="274320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de desconexión</a:t>
            </a:r>
          </a:p>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informada por Paulo</a:t>
            </a:r>
          </a:p>
        </p:txBody>
      </p:sp>
      <p:sp>
        <p:nvSpPr>
          <p:cNvPr id="7" name="text-5">
            <a:extLst xmlns:a="http://schemas.openxmlformats.org/drawingml/2006/main">
              <a:ext uri="{FF2B5EF4-FFF2-40B4-BE49-F238E27FC236}">
                <a16:creationId xmlns:a16="http://schemas.microsoft.com/office/drawing/2014/main" id="{8E6D1E56-108B-4B66-9BEE-CD9761E00904}"/>
              </a:ext>
            </a:extLst>
          </p:cNvPr>
          <p:cNvSpPr>
            <a:spLocks xmlns:a="http://schemas.openxmlformats.org/drawingml/2006/main" noGrp="1"/>
          </p:cNvSpPr>
          <p:nvPr/>
        </p:nvSpPr>
        <p:spPr>
          <a:xfrm xmlns:a="http://schemas.openxmlformats.org/drawingml/2006/main">
            <a:off x="8524875" y="3829050"/>
            <a:ext cx="304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02D56"/>
                </a:solidFill>
                <a:latin typeface="Arial"/>
                <a:ea typeface="Arial"/>
                <a:cs typeface="Arial"/>
              </a:defRPr>
            </a:defPPr>
          </a:lstStyle>
          <a:p xmlns:a="http://schemas.openxmlformats.org/drawingml/2006/main">
            <a:pPr>
              <a:defRPr sz="2025" b="1">
                <a:solidFill>
                  <a:srgbClr val="002D56"/>
                </a:solidFill>
                <a:latin typeface="Arial"/>
                <a:ea typeface="Arial"/>
                <a:cs typeface="Arial"/>
              </a:defRPr>
            </a:pPr>
            <a:r>
              <a:rPr sz="2025" b="1">
                <a:solidFill>
                  <a:srgbClr val="002D56"/>
                </a:solidFill>
                <a:latin typeface="Arial"/>
                <a:ea typeface="Arial"/>
                <a:cs typeface="Arial"/>
              </a:rPr>
              <a:t>La playlist continuó.</a:t>
            </a:r>
          </a:p>
          <a:p xmlns:a="http://schemas.openxmlformats.org/drawingml/2006/main">
            <a:r>
              <a:t/>
            </a:r>
          </a:p>
          <a:p xmlns:a="http://schemas.openxmlformats.org/drawingml/2006/main">
            <a:pPr>
              <a:defRPr sz="2025" b="1">
                <a:solidFill>
                  <a:srgbClr val="002D56"/>
                </a:solidFill>
                <a:latin typeface="Arial"/>
                <a:ea typeface="Arial"/>
                <a:cs typeface="Arial"/>
              </a:defRPr>
            </a:pPr>
            <a:r>
              <a:rPr sz="2025" b="1">
                <a:solidFill>
                  <a:srgbClr val="002D56"/>
                </a:solidFill>
                <a:latin typeface="Arial"/>
                <a:ea typeface="Arial"/>
                <a:cs typeface="Arial"/>
              </a:rPr>
              <a:t>Al reconectar, el aviso desapareció y el contenido siguió.</a:t>
            </a:r>
          </a:p>
        </p:txBody>
      </p:sp>
      <p:sp>
        <p:nvSpPr>
          <p:cNvPr id="8" name="text-6">
            <a:extLst xmlns:a="http://schemas.openxmlformats.org/drawingml/2006/main">
              <a:ext uri="{FF2B5EF4-FFF2-40B4-BE49-F238E27FC236}">
                <a16:creationId xmlns:a16="http://schemas.microsoft.com/office/drawing/2014/main" id="{95F91457-E5C2-4F3A-83B2-1474BDBECAE1}"/>
              </a:ext>
            </a:extLst>
          </p:cNvPr>
          <p:cNvSpPr>
            <a:spLocks xmlns:a="http://schemas.openxmlformats.org/drawingml/2006/main" noGrp="1"/>
          </p:cNvSpPr>
          <p:nvPr/>
        </p:nvSpPr>
        <p:spPr>
          <a:xfrm xmlns:a="http://schemas.openxmlformats.org/drawingml/2006/main">
            <a:off x="609600" y="59817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7"/>
                </a:solidFill>
                <a:latin typeface="Arial"/>
                <a:ea typeface="Arial"/>
                <a:cs typeface="Arial"/>
              </a:defRPr>
            </a:defPPr>
          </a:lstStyle>
          <a:p xmlns:a="http://schemas.openxmlformats.org/drawingml/2006/main">
            <a:pPr>
              <a:defRPr sz="1350" b="0">
                <a:solidFill>
                  <a:srgbClr val="526777"/>
                </a:solidFill>
                <a:latin typeface="Arial"/>
                <a:ea typeface="Arial"/>
                <a:cs typeface="Arial"/>
              </a:defRPr>
            </a:pPr>
            <a:r>
              <a:rPr sz="1350" b="0">
                <a:solidFill>
                  <a:srgbClr val="526777"/>
                </a:solidFill>
                <a:latin typeface="Arial"/>
                <a:ea typeface="Arial"/>
                <a:cs typeface="Arial"/>
              </a:rPr>
              <a:t>Prueba manual del 14 de octubre entre dos computadores de la red local.</a:t>
            </a:r>
          </a:p>
        </p:txBody>
      </p:sp>
    </p:spTree>
    <p:extLst>
      <p:ext uri="{BB962C8B-B14F-4D97-AF65-F5344CB8AC3E}">
        <p14:creationId xmlns:p14="http://schemas.microsoft.com/office/powerpoint/2010/main" val="16320982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B55EADC-B19A-4D76-B30A-C338D6658D3C}"/>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Estados del panel más claros</a:t>
            </a:r>
          </a:p>
        </p:txBody>
      </p:sp>
      <p:sp>
        <p:nvSpPr>
          <p:cNvPr id="2" name="text-1">
            <a:extLst xmlns:a="http://schemas.openxmlformats.org/drawingml/2006/main">
              <a:ext uri="{FF2B5EF4-FFF2-40B4-BE49-F238E27FC236}">
                <a16:creationId xmlns:a16="http://schemas.microsoft.com/office/drawing/2014/main" id="{6A12A494-53D7-428F-A9AF-09B2A248E65C}"/>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D6C6EB28-226C-4886-B61F-17A0AFC72A81}"/>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B3412773-BAD0-4928-8B1E-E250B454D80A}"/>
              </a:ext>
            </a:extLst>
          </p:cNvPr>
          <p:cNvGraphicFramePr/>
          <p:nvPr/>
        </p:nvGraphicFramePr>
        <p:xfrm>
          <a:off xmlns:a="http://schemas.openxmlformats.org/drawingml/2006/main" x="609600" y="1685925"/>
          <a:ext xmlns:a="http://schemas.openxmlformats.org/drawingml/2006/main" cx="10972800" cy="3333750"/>
        </p:xfrm>
        <a:graphic xmlns:a="http://schemas.openxmlformats.org/drawingml/2006/main">
          <a:graphicData uri="http://schemas.openxmlformats.org/drawingml/2006/table">
            <a:tbl>
              <a:tblPr/>
              <a:tblGrid>
                <a:gridCol w="3429000"/>
                <a:gridCol w="7543800"/>
              </a:tblGrid>
              <a:tr h="666750">
                <a:tc>
                  <a:txBody>
                    <a:bodyPr lIns="114300" tIns="114300" rIns="114300" bIns="114300">
                      <a:noAutofit/>
                    </a:bodyPr>
                    <a:lstStyle/>
                    <a:p>
                      <a:r>
                        <a:rPr sz="1875" b="1">
                          <a:solidFill>
                            <a:srgbClr val="FFFFFF"/>
                          </a:solidFill>
                          <a:latin typeface="Arial"/>
                          <a:ea typeface="Arial"/>
                          <a:cs typeface="Arial"/>
                        </a:rPr>
                        <a:t>Concepto</a:t>
                      </a:r>
                    </a:p>
                  </a:txBody>
                  <a:tcPr marL="91440" marR="91440" marT="45720" marB="45720" anchor="ctr">
                    <a:lnL w="9525">
                      <a:solidFill>
                        <a:srgbClr val="D5DFE7"/>
                      </a:solidFill>
                      <a:prstDash val="solid"/>
                    </a:lnL>
                    <a:lnR w="9525">
                      <a:solidFill>
                        <a:srgbClr val="D5DFE7"/>
                      </a:solidFill>
                      <a:prstDash val="solid"/>
                    </a:lnR>
                    <a:lnT w="9525">
                      <a:solidFill>
                        <a:srgbClr val="D5DFE7"/>
                      </a:solidFill>
                      <a:prstDash val="solid"/>
                    </a:lnT>
                    <a:lnB w="9525">
                      <a:solidFill>
                        <a:srgbClr val="D5DFE7"/>
                      </a:solidFill>
                      <a:prstDash val="solid"/>
                    </a:lnB>
                    <a:solidFill>
                      <a:srgbClr val="002D56"/>
                    </a:solidFill>
                  </a:tcPr>
                </a:tc>
                <a:tc>
                  <a:txBody>
                    <a:bodyPr lIns="114300" tIns="114300" rIns="114300" bIns="114300">
                      <a:noAutofit/>
                    </a:bodyPr>
                    <a:lstStyle/>
                    <a:p>
                      <a:r>
                        <a:rPr sz="1875" b="1">
                          <a:solidFill>
                            <a:srgbClr val="FFFFFF"/>
                          </a:solidFill>
                          <a:latin typeface="Arial"/>
                          <a:ea typeface="Arial"/>
                          <a:cs typeface="Arial"/>
                        </a:rPr>
                        <a:t>Qué informa</a:t>
                      </a:r>
                    </a:p>
                  </a:txBody>
                  <a:tcPr marL="91440" marR="91440" marT="45720" marB="45720" anchor="ctr">
                    <a:lnR w="9525">
                      <a:solidFill>
                        <a:srgbClr val="D5DFE7"/>
                      </a:solidFill>
                      <a:prstDash val="solid"/>
                    </a:lnR>
                    <a:lnT w="9525">
                      <a:solidFill>
                        <a:srgbClr val="D5DFE7"/>
                      </a:solidFill>
                      <a:prstDash val="solid"/>
                    </a:lnT>
                    <a:lnB w="9525">
                      <a:solidFill>
                        <a:srgbClr val="D5DFE7"/>
                      </a:solidFill>
                      <a:prstDash val="solid"/>
                    </a:lnB>
                    <a:solidFill>
                      <a:srgbClr val="002D56"/>
                    </a:solidFill>
                  </a:tcPr>
                </a:tc>
              </a:tr>
              <a:tr h="666750">
                <a:tc>
                  <a:txBody>
                    <a:bodyPr lIns="114300" tIns="114300" rIns="114300" bIns="114300">
                      <a:noAutofit/>
                    </a:bodyPr>
                    <a:lstStyle/>
                    <a:p>
                      <a:r>
                        <a:rPr sz="1875" b="0">
                          <a:solidFill>
                            <a:srgbClr val="17324D"/>
                          </a:solidFill>
                          <a:latin typeface="Arial"/>
                          <a:ea typeface="Arial"/>
                          <a:cs typeface="Arial"/>
                        </a:rPr>
                        <a:t>Conexión</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FFFFFF"/>
                    </a:solidFill>
                  </a:tcPr>
                </a:tc>
                <a:tc>
                  <a:txBody>
                    <a:bodyPr lIns="114300" tIns="114300" rIns="114300" bIns="114300">
                      <a:noAutofit/>
                    </a:bodyPr>
                    <a:lstStyle/>
                    <a:p>
                      <a:r>
                        <a:rPr sz="1875" b="0">
                          <a:solidFill>
                            <a:srgbClr val="17324D"/>
                          </a:solidFill>
                          <a:latin typeface="Arial"/>
                          <a:ea typeface="Arial"/>
                          <a:cs typeface="Arial"/>
                        </a:rPr>
                        <a:t>Si el Player se comunica con la plataforma.</a:t>
                      </a:r>
                    </a:p>
                  </a:txBody>
                  <a:tcPr marL="91440" marR="91440" marT="45720" marB="45720" anchor="ctr">
                    <a:lnR w="9525">
                      <a:solidFill>
                        <a:srgbClr val="D5DFE7"/>
                      </a:solidFill>
                      <a:prstDash val="solid"/>
                    </a:lnR>
                    <a:lnB w="9525">
                      <a:solidFill>
                        <a:srgbClr val="D5DFE7"/>
                      </a:solidFill>
                      <a:prstDash val="solid"/>
                    </a:lnB>
                    <a:solidFill>
                      <a:srgbClr val="FFFFFF"/>
                    </a:solidFill>
                  </a:tcPr>
                </a:tc>
              </a:tr>
              <a:tr h="666750">
                <a:tc>
                  <a:txBody>
                    <a:bodyPr lIns="114300" tIns="114300" rIns="114300" bIns="114300">
                      <a:noAutofit/>
                    </a:bodyPr>
                    <a:lstStyle/>
                    <a:p>
                      <a:r>
                        <a:rPr sz="1875" b="0">
                          <a:solidFill>
                            <a:srgbClr val="17324D"/>
                          </a:solidFill>
                          <a:latin typeface="Arial"/>
                          <a:ea typeface="Arial"/>
                          <a:cs typeface="Arial"/>
                        </a:rPr>
                        <a:t>Contenido actualizado</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EEF3F7"/>
                    </a:solidFill>
                  </a:tcPr>
                </a:tc>
                <a:tc>
                  <a:txBody>
                    <a:bodyPr lIns="114300" tIns="114300" rIns="114300" bIns="114300">
                      <a:noAutofit/>
                    </a:bodyPr>
                    <a:lstStyle/>
                    <a:p>
                      <a:r>
                        <a:rPr sz="1875" b="0">
                          <a:solidFill>
                            <a:srgbClr val="17324D"/>
                          </a:solidFill>
                          <a:latin typeface="Arial"/>
                          <a:ea typeface="Arial"/>
                          <a:cs typeface="Arial"/>
                        </a:rPr>
                        <a:t>El último estado conocido de sincronización.</a:t>
                      </a:r>
                    </a:p>
                  </a:txBody>
                  <a:tcPr marL="91440" marR="91440" marT="45720" marB="45720" anchor="ctr">
                    <a:lnR w="9525">
                      <a:solidFill>
                        <a:srgbClr val="D5DFE7"/>
                      </a:solidFill>
                      <a:prstDash val="solid"/>
                    </a:lnR>
                    <a:lnB w="9525">
                      <a:solidFill>
                        <a:srgbClr val="D5DFE7"/>
                      </a:solidFill>
                      <a:prstDash val="solid"/>
                    </a:lnB>
                    <a:solidFill>
                      <a:srgbClr val="EEF3F7"/>
                    </a:solidFill>
                  </a:tcPr>
                </a:tc>
              </a:tr>
              <a:tr h="666750">
                <a:tc>
                  <a:txBody>
                    <a:bodyPr lIns="114300" tIns="114300" rIns="114300" bIns="114300">
                      <a:noAutofit/>
                    </a:bodyPr>
                    <a:lstStyle/>
                    <a:p>
                      <a:r>
                        <a:rPr sz="1875" b="0">
                          <a:solidFill>
                            <a:srgbClr val="17324D"/>
                          </a:solidFill>
                          <a:latin typeface="Arial"/>
                          <a:ea typeface="Arial"/>
                          <a:cs typeface="Arial"/>
                        </a:rPr>
                        <a:t>Habilitación</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FFFFFF"/>
                    </a:solidFill>
                  </a:tcPr>
                </a:tc>
                <a:tc>
                  <a:txBody>
                    <a:bodyPr lIns="114300" tIns="114300" rIns="114300" bIns="114300">
                      <a:noAutofit/>
                    </a:bodyPr>
                    <a:lstStyle/>
                    <a:p>
                      <a:r>
                        <a:rPr sz="1875" b="0">
                          <a:solidFill>
                            <a:srgbClr val="17324D"/>
                          </a:solidFill>
                          <a:latin typeface="Arial"/>
                          <a:ea typeface="Arial"/>
                          <a:cs typeface="Arial"/>
                        </a:rPr>
                        <a:t>Si la programación está habilitada.</a:t>
                      </a:r>
                    </a:p>
                  </a:txBody>
                  <a:tcPr marL="91440" marR="91440" marT="45720" marB="45720" anchor="ctr">
                    <a:lnR w="9525">
                      <a:solidFill>
                        <a:srgbClr val="D5DFE7"/>
                      </a:solidFill>
                      <a:prstDash val="solid"/>
                    </a:lnR>
                    <a:lnB w="9525">
                      <a:solidFill>
                        <a:srgbClr val="D5DFE7"/>
                      </a:solidFill>
                      <a:prstDash val="solid"/>
                    </a:lnB>
                    <a:solidFill>
                      <a:srgbClr val="FFFFFF"/>
                    </a:solidFill>
                  </a:tcPr>
                </a:tc>
              </a:tr>
              <a:tr h="666750">
                <a:tc>
                  <a:txBody>
                    <a:bodyPr lIns="114300" tIns="114300" rIns="114300" bIns="114300">
                      <a:noAutofit/>
                    </a:bodyPr>
                    <a:lstStyle/>
                    <a:p>
                      <a:r>
                        <a:rPr sz="1875" b="0">
                          <a:solidFill>
                            <a:srgbClr val="17324D"/>
                          </a:solidFill>
                          <a:latin typeface="Arial"/>
                          <a:ea typeface="Arial"/>
                          <a:cs typeface="Arial"/>
                        </a:rPr>
                        <a:t>Vigencia</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EEF3F7"/>
                    </a:solidFill>
                  </a:tcPr>
                </a:tc>
                <a:tc>
                  <a:txBody>
                    <a:bodyPr lIns="114300" tIns="114300" rIns="114300" bIns="114300">
                      <a:noAutofit/>
                    </a:bodyPr>
                    <a:lstStyle/>
                    <a:p>
                      <a:r>
                        <a:rPr sz="1875" b="0">
                          <a:solidFill>
                            <a:srgbClr val="17324D"/>
                          </a:solidFill>
                          <a:latin typeface="Arial"/>
                          <a:ea typeface="Arial"/>
                          <a:cs typeface="Arial"/>
                        </a:rPr>
                        <a:t>Si está próxima, en vigencia o vencida.</a:t>
                      </a:r>
                    </a:p>
                  </a:txBody>
                  <a:tcPr marL="91440" marR="91440" marT="45720" marB="45720" anchor="ctr">
                    <a:lnR w="9525">
                      <a:solidFill>
                        <a:srgbClr val="D5DFE7"/>
                      </a:solidFill>
                      <a:prstDash val="solid"/>
                    </a:lnR>
                    <a:lnB w="9525">
                      <a:solidFill>
                        <a:srgbClr val="D5DFE7"/>
                      </a:solidFill>
                      <a:prstDash val="solid"/>
                    </a:lnB>
                    <a:solidFill>
                      <a:srgbClr val="EEF3F7"/>
                    </a:solidFill>
                  </a:tcPr>
                </a:tc>
              </a:tr>
            </a:tbl>
          </a:graphicData>
        </a:graphic>
      </p:graphicFrame>
      <p:sp>
        <p:nvSpPr>
          <p:cNvPr id="5" name="text-3">
            <a:extLst xmlns:a="http://schemas.openxmlformats.org/drawingml/2006/main">
              <a:ext uri="{FF2B5EF4-FFF2-40B4-BE49-F238E27FC236}">
                <a16:creationId xmlns:a16="http://schemas.microsoft.com/office/drawing/2014/main" id="{D589252A-1914-4135-9928-D28A49983AA9}"/>
              </a:ext>
            </a:extLst>
          </p:cNvPr>
          <p:cNvSpPr>
            <a:spLocks xmlns:a="http://schemas.openxmlformats.org/drawingml/2006/main" noGrp="1"/>
          </p:cNvSpPr>
          <p:nvPr/>
        </p:nvSpPr>
        <p:spPr>
          <a:xfrm xmlns:a="http://schemas.openxmlformats.org/drawingml/2006/main">
            <a:off x="609600" y="53244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2D56"/>
                </a:solidFill>
                <a:latin typeface="Arial"/>
                <a:ea typeface="Arial"/>
                <a:cs typeface="Arial"/>
              </a:defRPr>
            </a:defPPr>
          </a:lstStyle>
          <a:p xmlns:a="http://schemas.openxmlformats.org/drawingml/2006/main">
            <a:pPr>
              <a:defRPr sz="2250" b="1">
                <a:solidFill>
                  <a:srgbClr val="002D56"/>
                </a:solidFill>
                <a:latin typeface="Arial"/>
                <a:ea typeface="Arial"/>
                <a:cs typeface="Arial"/>
              </a:defRPr>
            </a:pPr>
            <a:r>
              <a:rPr sz="2250" b="1">
                <a:solidFill>
                  <a:srgbClr val="002D56"/>
                </a:solidFill>
                <a:latin typeface="Arial"/>
                <a:ea typeface="Arial"/>
                <a:cs typeface="Arial"/>
              </a:rPr>
              <a:t>Una pantalla puede estar desconectada y conservar contenido actualizado.</a:t>
            </a:r>
          </a:p>
        </p:txBody>
      </p:sp>
    </p:spTree>
    <p:extLst>
      <p:ext uri="{BB962C8B-B14F-4D97-AF65-F5344CB8AC3E}">
        <p14:creationId xmlns:p14="http://schemas.microsoft.com/office/powerpoint/2010/main" val="17722922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3147DFE-6F45-4759-BC36-FF83EC82CD36}"/>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Pruebas y controles de calidad</a:t>
            </a:r>
          </a:p>
        </p:txBody>
      </p:sp>
      <p:sp>
        <p:nvSpPr>
          <p:cNvPr id="2" name="text-1">
            <a:extLst xmlns:a="http://schemas.openxmlformats.org/drawingml/2006/main">
              <a:ext uri="{FF2B5EF4-FFF2-40B4-BE49-F238E27FC236}">
                <a16:creationId xmlns:a16="http://schemas.microsoft.com/office/drawing/2014/main" id="{599B56F9-E342-4AFF-97AD-5FCF74A4B2AC}"/>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FEDB2C3C-8067-4D8F-969B-5EA8B994405F}"/>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A1557970-8411-45F6-A0D6-E8BAAE4732F5}"/>
              </a:ext>
            </a:extLst>
          </p:cNvPr>
          <p:cNvSpPr>
            <a:spLocks xmlns:a="http://schemas.openxmlformats.org/drawingml/2006/main" noGrp="1"/>
          </p:cNvSpPr>
          <p:nvPr/>
        </p:nvSpPr>
        <p:spPr>
          <a:xfrm xmlns:a="http://schemas.openxmlformats.org/drawingml/2006/main">
            <a:off x="609600" y="1704975"/>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1">
                <a:solidFill>
                  <a:srgbClr val="002D56"/>
                </a:solidFill>
                <a:latin typeface="Arial"/>
                <a:ea typeface="Arial"/>
                <a:cs typeface="Arial"/>
              </a:defRPr>
            </a:defPPr>
          </a:lstStyle>
          <a:p xmlns:a="http://schemas.openxmlformats.org/drawingml/2006/main">
            <a:pPr>
              <a:defRPr sz="6600" b="1">
                <a:solidFill>
                  <a:srgbClr val="002D56"/>
                </a:solidFill>
                <a:latin typeface="Arial"/>
                <a:ea typeface="Arial"/>
                <a:cs typeface="Arial"/>
              </a:defRPr>
            </a:pPr>
            <a:r>
              <a:rPr sz="6600" b="1">
                <a:solidFill>
                  <a:srgbClr val="002D56"/>
                </a:solidFill>
                <a:latin typeface="Arial"/>
                <a:ea typeface="Arial"/>
                <a:cs typeface="Arial"/>
              </a:rPr>
              <a:t>493</a:t>
            </a:r>
          </a:p>
        </p:txBody>
      </p:sp>
      <p:sp>
        <p:nvSpPr>
          <p:cNvPr id="5" name="text-4">
            <a:extLst xmlns:a="http://schemas.openxmlformats.org/drawingml/2006/main">
              <a:ext uri="{FF2B5EF4-FFF2-40B4-BE49-F238E27FC236}">
                <a16:creationId xmlns:a16="http://schemas.microsoft.com/office/drawing/2014/main" id="{58931496-91CE-4E12-BE60-FDAFB7BF3721}"/>
              </a:ext>
            </a:extLst>
          </p:cNvPr>
          <p:cNvSpPr>
            <a:spLocks xmlns:a="http://schemas.openxmlformats.org/drawingml/2006/main" noGrp="1"/>
          </p:cNvSpPr>
          <p:nvPr/>
        </p:nvSpPr>
        <p:spPr>
          <a:xfrm xmlns:a="http://schemas.openxmlformats.org/drawingml/2006/main">
            <a:off x="609600" y="286702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pruebas automáticas aprobadas</a:t>
            </a:r>
          </a:p>
        </p:txBody>
      </p:sp>
      <p:sp>
        <p:nvSpPr>
          <p:cNvPr id="6" name="text-5">
            <a:extLst xmlns:a="http://schemas.openxmlformats.org/drawingml/2006/main">
              <a:ext uri="{FF2B5EF4-FFF2-40B4-BE49-F238E27FC236}">
                <a16:creationId xmlns:a16="http://schemas.microsoft.com/office/drawing/2014/main" id="{956C0B2D-30E4-4A98-A670-29D293155719}"/>
              </a:ext>
            </a:extLst>
          </p:cNvPr>
          <p:cNvSpPr>
            <a:spLocks xmlns:a="http://schemas.openxmlformats.org/drawingml/2006/main" noGrp="1"/>
          </p:cNvSpPr>
          <p:nvPr/>
        </p:nvSpPr>
        <p:spPr>
          <a:xfrm xmlns:a="http://schemas.openxmlformats.org/drawingml/2006/main">
            <a:off x="609600" y="4019550"/>
            <a:ext cx="466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256 del backend, con 1.077 aserciones.</a:t>
            </a:r>
          </a:p>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235 del Player y 2 de integración.</a:t>
            </a:r>
          </a:p>
        </p:txBody>
      </p:sp>
      <p:sp>
        <p:nvSpPr>
          <p:cNvPr id="7" name="text-6">
            <a:extLst xmlns:a="http://schemas.openxmlformats.org/drawingml/2006/main">
              <a:ext uri="{FF2B5EF4-FFF2-40B4-BE49-F238E27FC236}">
                <a16:creationId xmlns:a16="http://schemas.microsoft.com/office/drawing/2014/main" id="{1019D15E-B2F0-440E-BDD4-A340AA1F25D7}"/>
              </a:ext>
            </a:extLst>
          </p:cNvPr>
          <p:cNvSpPr>
            <a:spLocks xmlns:a="http://schemas.openxmlformats.org/drawingml/2006/main" noGrp="1"/>
          </p:cNvSpPr>
          <p:nvPr/>
        </p:nvSpPr>
        <p:spPr>
          <a:xfrm xmlns:a="http://schemas.openxmlformats.org/drawingml/2006/main">
            <a:off x="6429375" y="18288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02D56"/>
                </a:solidFill>
                <a:latin typeface="Arial"/>
                <a:ea typeface="Arial"/>
                <a:cs typeface="Arial"/>
              </a:defRPr>
            </a:defPPr>
          </a:lstStyle>
          <a:p xmlns:a="http://schemas.openxmlformats.org/drawingml/2006/main">
            <a:pPr>
              <a:defRPr sz="2625" b="1">
                <a:solidFill>
                  <a:srgbClr val="002D56"/>
                </a:solidFill>
                <a:latin typeface="Arial"/>
                <a:ea typeface="Arial"/>
                <a:cs typeface="Arial"/>
              </a:defRPr>
            </a:pPr>
            <a:r>
              <a:rPr sz="2625" b="1">
                <a:solidFill>
                  <a:srgbClr val="002D56"/>
                </a:solidFill>
                <a:latin typeface="Arial"/>
                <a:ea typeface="Arial"/>
                <a:cs typeface="Arial"/>
              </a:rPr>
              <a:t>Integración continua</a:t>
            </a:r>
          </a:p>
        </p:txBody>
      </p:sp>
      <p:sp>
        <p:nvSpPr>
          <p:cNvPr id="8" name="text-7">
            <a:extLst xmlns:a="http://schemas.openxmlformats.org/drawingml/2006/main">
              <a:ext uri="{FF2B5EF4-FFF2-40B4-BE49-F238E27FC236}">
                <a16:creationId xmlns:a16="http://schemas.microsoft.com/office/drawing/2014/main" id="{C91FA229-28EF-4CAA-AD2E-11A21B7BCF9D}"/>
              </a:ext>
            </a:extLst>
          </p:cNvPr>
          <p:cNvSpPr>
            <a:spLocks xmlns:a="http://schemas.openxmlformats.org/drawingml/2006/main" noGrp="1"/>
          </p:cNvSpPr>
          <p:nvPr/>
        </p:nvSpPr>
        <p:spPr>
          <a:xfrm xmlns:a="http://schemas.openxmlformats.org/drawingml/2006/main">
            <a:off x="6429375" y="260985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Backend contra MariaDB</a:t>
            </a:r>
          </a:p>
          <a:p xmlns:a="http://schemas.openxmlformats.org/drawingml/2006/main">
            <a:r>
              <a:t/>
            </a:r>
          </a:p>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Pruebas del Player</a:t>
            </a:r>
          </a:p>
          <a:p xmlns:a="http://schemas.openxmlformats.org/drawingml/2006/main">
            <a:r>
              <a:t/>
            </a:r>
          </a:p>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Integración API y Player</a:t>
            </a:r>
          </a:p>
          <a:p xmlns:a="http://schemas.openxmlformats.org/drawingml/2006/main">
            <a:r>
              <a:t/>
            </a:r>
          </a:p>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Verificación de estilo</a:t>
            </a:r>
          </a:p>
        </p:txBody>
      </p:sp>
      <p:sp>
        <p:nvSpPr>
          <p:cNvPr id="9" name="text-8">
            <a:extLst xmlns:a="http://schemas.openxmlformats.org/drawingml/2006/main">
              <a:ext uri="{FF2B5EF4-FFF2-40B4-BE49-F238E27FC236}">
                <a16:creationId xmlns:a16="http://schemas.microsoft.com/office/drawing/2014/main" id="{B535DAA1-1E14-4256-AA9D-6923C9235DD2}"/>
              </a:ext>
            </a:extLst>
          </p:cNvPr>
          <p:cNvSpPr>
            <a:spLocks xmlns:a="http://schemas.openxmlformats.org/drawingml/2006/main" noGrp="1"/>
          </p:cNvSpPr>
          <p:nvPr/>
        </p:nvSpPr>
        <p:spPr>
          <a:xfrm xmlns:a="http://schemas.openxmlformats.org/drawingml/2006/main">
            <a:off x="609600" y="59817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7"/>
                </a:solidFill>
                <a:latin typeface="Arial"/>
                <a:ea typeface="Arial"/>
                <a:cs typeface="Arial"/>
              </a:defRPr>
            </a:defPPr>
          </a:lstStyle>
          <a:p xmlns:a="http://schemas.openxmlformats.org/drawingml/2006/main">
            <a:pPr>
              <a:defRPr sz="1350" b="0">
                <a:solidFill>
                  <a:srgbClr val="526777"/>
                </a:solidFill>
                <a:latin typeface="Arial"/>
                <a:ea typeface="Arial"/>
                <a:cs typeface="Arial"/>
              </a:defRPr>
            </a:pPr>
            <a:r>
              <a:rPr sz="1350" b="0">
                <a:solidFill>
                  <a:srgbClr val="526777"/>
                </a:solidFill>
                <a:latin typeface="Arial"/>
                <a:ea typeface="Arial"/>
                <a:cs typeface="Arial"/>
              </a:rPr>
              <a:t>GitHub Actions sobre main (2350b15), 16 de octubre. Estas pruebas no miden carga ni rendimiento en NUC.</a:t>
            </a:r>
          </a:p>
        </p:txBody>
      </p:sp>
    </p:spTree>
    <p:extLst>
      <p:ext uri="{BB962C8B-B14F-4D97-AF65-F5344CB8AC3E}">
        <p14:creationId xmlns:p14="http://schemas.microsoft.com/office/powerpoint/2010/main" val="2681054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4BF80BF-08A7-4E49-9D26-7545D2987E9F}"/>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Monitoreo del plan de trabajo</a:t>
            </a:r>
          </a:p>
        </p:txBody>
      </p:sp>
      <p:sp>
        <p:nvSpPr>
          <p:cNvPr id="2" name="text-1">
            <a:extLst xmlns:a="http://schemas.openxmlformats.org/drawingml/2006/main">
              <a:ext uri="{FF2B5EF4-FFF2-40B4-BE49-F238E27FC236}">
                <a16:creationId xmlns:a16="http://schemas.microsoft.com/office/drawing/2014/main" id="{9EFC70F7-1626-4674-9CD1-B50E000169D9}"/>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66F5CBF9-AA24-4121-B1E6-3BDB03009A24}"/>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993AF201-7B75-49DF-BEBF-2353CCBF8755}"/>
              </a:ext>
            </a:extLst>
          </p:cNvPr>
          <p:cNvGraphicFramePr/>
          <p:nvPr/>
        </p:nvGraphicFramePr>
        <p:xfrm>
          <a:off xmlns:a="http://schemas.openxmlformats.org/drawingml/2006/main" x="609600" y="1609725"/>
          <a:ext xmlns:a="http://schemas.openxmlformats.org/drawingml/2006/main" cx="6457950" cy="3771900"/>
        </p:xfrm>
        <a:graphic xmlns:a="http://schemas.openxmlformats.org/drawingml/2006/main">
          <a:graphicData uri="http://schemas.openxmlformats.org/drawingml/2006/table">
            <a:tbl>
              <a:tblPr/>
              <a:tblGrid>
                <a:gridCol w="4743450"/>
                <a:gridCol w="1714500"/>
              </a:tblGrid>
              <a:tr h="628650">
                <a:tc>
                  <a:txBody>
                    <a:bodyPr lIns="114300" tIns="114300" rIns="114300" bIns="114300">
                      <a:noAutofit/>
                    </a:bodyPr>
                    <a:lstStyle/>
                    <a:p>
                      <a:r>
                        <a:rPr sz="1875" b="1">
                          <a:solidFill>
                            <a:srgbClr val="FFFFFF"/>
                          </a:solidFill>
                          <a:latin typeface="Arial"/>
                          <a:ea typeface="Arial"/>
                          <a:cs typeface="Arial"/>
                        </a:rPr>
                        <a:t>Estado al 15 de octubre</a:t>
                      </a:r>
                    </a:p>
                  </a:txBody>
                  <a:tcPr marL="91440" marR="91440" marT="45720" marB="45720" anchor="ctr">
                    <a:lnL w="9525">
                      <a:solidFill>
                        <a:srgbClr val="D5DFE7"/>
                      </a:solidFill>
                      <a:prstDash val="solid"/>
                    </a:lnL>
                    <a:lnR w="9525">
                      <a:solidFill>
                        <a:srgbClr val="D5DFE7"/>
                      </a:solidFill>
                      <a:prstDash val="solid"/>
                    </a:lnR>
                    <a:lnT w="9525">
                      <a:solidFill>
                        <a:srgbClr val="D5DFE7"/>
                      </a:solidFill>
                      <a:prstDash val="solid"/>
                    </a:lnT>
                    <a:lnB w="9525">
                      <a:solidFill>
                        <a:srgbClr val="D5DFE7"/>
                      </a:solidFill>
                      <a:prstDash val="solid"/>
                    </a:lnB>
                    <a:solidFill>
                      <a:srgbClr val="002D56"/>
                    </a:solidFill>
                  </a:tcPr>
                </a:tc>
                <a:tc>
                  <a:txBody>
                    <a:bodyPr lIns="114300" tIns="114300" rIns="114300" bIns="114300">
                      <a:noAutofit/>
                    </a:bodyPr>
                    <a:lstStyle/>
                    <a:p>
                      <a:r>
                        <a:rPr sz="1875" b="1">
                          <a:solidFill>
                            <a:srgbClr val="FFFFFF"/>
                          </a:solidFill>
                          <a:latin typeface="Arial"/>
                          <a:ea typeface="Arial"/>
                          <a:cs typeface="Arial"/>
                        </a:rPr>
                        <a:t>Actividades</a:t>
                      </a:r>
                    </a:p>
                  </a:txBody>
                  <a:tcPr marL="91440" marR="91440" marT="45720" marB="45720" anchor="ctr">
                    <a:lnR w="9525">
                      <a:solidFill>
                        <a:srgbClr val="D5DFE7"/>
                      </a:solidFill>
                      <a:prstDash val="solid"/>
                    </a:lnR>
                    <a:lnT w="9525">
                      <a:solidFill>
                        <a:srgbClr val="D5DFE7"/>
                      </a:solidFill>
                      <a:prstDash val="solid"/>
                    </a:lnT>
                    <a:lnB w="9525">
                      <a:solidFill>
                        <a:srgbClr val="D5DFE7"/>
                      </a:solidFill>
                      <a:prstDash val="solid"/>
                    </a:lnB>
                    <a:solidFill>
                      <a:srgbClr val="002D56"/>
                    </a:solidFill>
                  </a:tcPr>
                </a:tc>
              </a:tr>
              <a:tr h="628650">
                <a:tc>
                  <a:txBody>
                    <a:bodyPr lIns="114300" tIns="114300" rIns="114300" bIns="114300">
                      <a:noAutofit/>
                    </a:bodyPr>
                    <a:lstStyle/>
                    <a:p>
                      <a:r>
                        <a:rPr sz="1875" b="0">
                          <a:solidFill>
                            <a:srgbClr val="17324D"/>
                          </a:solidFill>
                          <a:latin typeface="Arial"/>
                          <a:ea typeface="Arial"/>
                          <a:cs typeface="Arial"/>
                        </a:rPr>
                        <a:t>Completadas</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FFFFFF"/>
                    </a:solidFill>
                  </a:tcPr>
                </a:tc>
                <a:tc>
                  <a:txBody>
                    <a:bodyPr lIns="114300" tIns="114300" rIns="114300" bIns="114300">
                      <a:noAutofit/>
                    </a:bodyPr>
                    <a:lstStyle/>
                    <a:p>
                      <a:r>
                        <a:rPr sz="1875" b="0">
                          <a:solidFill>
                            <a:srgbClr val="17324D"/>
                          </a:solidFill>
                          <a:latin typeface="Arial"/>
                          <a:ea typeface="Arial"/>
                          <a:cs typeface="Arial"/>
                        </a:rPr>
                        <a:t>4</a:t>
                      </a:r>
                    </a:p>
                  </a:txBody>
                  <a:tcPr marL="91440" marR="91440" marT="45720" marB="45720" anchor="ctr">
                    <a:lnR w="9525">
                      <a:solidFill>
                        <a:srgbClr val="D5DFE7"/>
                      </a:solidFill>
                      <a:prstDash val="solid"/>
                    </a:lnR>
                    <a:lnB w="9525">
                      <a:solidFill>
                        <a:srgbClr val="D5DFE7"/>
                      </a:solidFill>
                      <a:prstDash val="solid"/>
                    </a:lnB>
                    <a:solidFill>
                      <a:srgbClr val="FFFFFF"/>
                    </a:solidFill>
                  </a:tcPr>
                </a:tc>
              </a:tr>
              <a:tr h="628650">
                <a:tc>
                  <a:txBody>
                    <a:bodyPr lIns="114300" tIns="114300" rIns="114300" bIns="114300">
                      <a:noAutofit/>
                    </a:bodyPr>
                    <a:lstStyle/>
                    <a:p>
                      <a:r>
                        <a:rPr sz="1875" b="0">
                          <a:solidFill>
                            <a:srgbClr val="17324D"/>
                          </a:solidFill>
                          <a:latin typeface="Arial"/>
                          <a:ea typeface="Arial"/>
                          <a:cs typeface="Arial"/>
                        </a:rPr>
                        <a:t>Ajustadas</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EEF3F7"/>
                    </a:solidFill>
                  </a:tcPr>
                </a:tc>
                <a:tc>
                  <a:txBody>
                    <a:bodyPr lIns="114300" tIns="114300" rIns="114300" bIns="114300">
                      <a:noAutofit/>
                    </a:bodyPr>
                    <a:lstStyle/>
                    <a:p>
                      <a:r>
                        <a:rPr sz="1875" b="0">
                          <a:solidFill>
                            <a:srgbClr val="17324D"/>
                          </a:solidFill>
                          <a:latin typeface="Arial"/>
                          <a:ea typeface="Arial"/>
                          <a:cs typeface="Arial"/>
                        </a:rPr>
                        <a:t>5</a:t>
                      </a:r>
                    </a:p>
                  </a:txBody>
                  <a:tcPr marL="91440" marR="91440" marT="45720" marB="45720" anchor="ctr">
                    <a:lnR w="9525">
                      <a:solidFill>
                        <a:srgbClr val="D5DFE7"/>
                      </a:solidFill>
                      <a:prstDash val="solid"/>
                    </a:lnR>
                    <a:lnB w="9525">
                      <a:solidFill>
                        <a:srgbClr val="D5DFE7"/>
                      </a:solidFill>
                      <a:prstDash val="solid"/>
                    </a:lnB>
                    <a:solidFill>
                      <a:srgbClr val="EEF3F7"/>
                    </a:solidFill>
                  </a:tcPr>
                </a:tc>
              </a:tr>
              <a:tr h="628650">
                <a:tc>
                  <a:txBody>
                    <a:bodyPr lIns="114300" tIns="114300" rIns="114300" bIns="114300">
                      <a:noAutofit/>
                    </a:bodyPr>
                    <a:lstStyle/>
                    <a:p>
                      <a:r>
                        <a:rPr sz="1875" b="0">
                          <a:solidFill>
                            <a:srgbClr val="17324D"/>
                          </a:solidFill>
                          <a:latin typeface="Arial"/>
                          <a:ea typeface="Arial"/>
                          <a:cs typeface="Arial"/>
                        </a:rPr>
                        <a:t>Con retraso</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FFFFFF"/>
                    </a:solidFill>
                  </a:tcPr>
                </a:tc>
                <a:tc>
                  <a:txBody>
                    <a:bodyPr lIns="114300" tIns="114300" rIns="114300" bIns="114300">
                      <a:noAutofit/>
                    </a:bodyPr>
                    <a:lstStyle/>
                    <a:p>
                      <a:r>
                        <a:rPr sz="1875" b="0">
                          <a:solidFill>
                            <a:srgbClr val="17324D"/>
                          </a:solidFill>
                          <a:latin typeface="Arial"/>
                          <a:ea typeface="Arial"/>
                          <a:cs typeface="Arial"/>
                        </a:rPr>
                        <a:t>4</a:t>
                      </a:r>
                    </a:p>
                  </a:txBody>
                  <a:tcPr marL="91440" marR="91440" marT="45720" marB="45720" anchor="ctr">
                    <a:lnR w="9525">
                      <a:solidFill>
                        <a:srgbClr val="D5DFE7"/>
                      </a:solidFill>
                      <a:prstDash val="solid"/>
                    </a:lnR>
                    <a:lnB w="9525">
                      <a:solidFill>
                        <a:srgbClr val="D5DFE7"/>
                      </a:solidFill>
                      <a:prstDash val="solid"/>
                    </a:lnB>
                    <a:solidFill>
                      <a:srgbClr val="FFFFFF"/>
                    </a:solidFill>
                  </a:tcPr>
                </a:tc>
              </a:tr>
              <a:tr h="628650">
                <a:tc>
                  <a:txBody>
                    <a:bodyPr lIns="114300" tIns="114300" rIns="114300" bIns="114300">
                      <a:noAutofit/>
                    </a:bodyPr>
                    <a:lstStyle/>
                    <a:p>
                      <a:r>
                        <a:rPr sz="1875" b="0">
                          <a:solidFill>
                            <a:srgbClr val="17324D"/>
                          </a:solidFill>
                          <a:latin typeface="Arial"/>
                          <a:ea typeface="Arial"/>
                          <a:cs typeface="Arial"/>
                        </a:rPr>
                        <a:t>En curso</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EEF3F7"/>
                    </a:solidFill>
                  </a:tcPr>
                </a:tc>
                <a:tc>
                  <a:txBody>
                    <a:bodyPr lIns="114300" tIns="114300" rIns="114300" bIns="114300">
                      <a:noAutofit/>
                    </a:bodyPr>
                    <a:lstStyle/>
                    <a:p>
                      <a:r>
                        <a:rPr sz="1875" b="0">
                          <a:solidFill>
                            <a:srgbClr val="17324D"/>
                          </a:solidFill>
                          <a:latin typeface="Arial"/>
                          <a:ea typeface="Arial"/>
                          <a:cs typeface="Arial"/>
                        </a:rPr>
                        <a:t>4</a:t>
                      </a:r>
                    </a:p>
                  </a:txBody>
                  <a:tcPr marL="91440" marR="91440" marT="45720" marB="45720" anchor="ctr">
                    <a:lnR w="9525">
                      <a:solidFill>
                        <a:srgbClr val="D5DFE7"/>
                      </a:solidFill>
                      <a:prstDash val="solid"/>
                    </a:lnR>
                    <a:lnB w="9525">
                      <a:solidFill>
                        <a:srgbClr val="D5DFE7"/>
                      </a:solidFill>
                      <a:prstDash val="solid"/>
                    </a:lnB>
                    <a:solidFill>
                      <a:srgbClr val="EEF3F7"/>
                    </a:solidFill>
                  </a:tcPr>
                </a:tc>
              </a:tr>
              <a:tr h="628650">
                <a:tc>
                  <a:txBody>
                    <a:bodyPr lIns="114300" tIns="114300" rIns="114300" bIns="114300">
                      <a:noAutofit/>
                    </a:bodyPr>
                    <a:lstStyle/>
                    <a:p>
                      <a:r>
                        <a:rPr sz="1875" b="0">
                          <a:solidFill>
                            <a:srgbClr val="17324D"/>
                          </a:solidFill>
                          <a:latin typeface="Arial"/>
                          <a:ea typeface="Arial"/>
                          <a:cs typeface="Arial"/>
                        </a:rPr>
                        <a:t>No iniciadas</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FFFFFF"/>
                    </a:solidFill>
                  </a:tcPr>
                </a:tc>
                <a:tc>
                  <a:txBody>
                    <a:bodyPr lIns="114300" tIns="114300" rIns="114300" bIns="114300">
                      <a:noAutofit/>
                    </a:bodyPr>
                    <a:lstStyle/>
                    <a:p>
                      <a:r>
                        <a:rPr sz="1875" b="0">
                          <a:solidFill>
                            <a:srgbClr val="17324D"/>
                          </a:solidFill>
                          <a:latin typeface="Arial"/>
                          <a:ea typeface="Arial"/>
                          <a:cs typeface="Arial"/>
                        </a:rPr>
                        <a:t>5</a:t>
                      </a:r>
                    </a:p>
                  </a:txBody>
                  <a:tcPr marL="91440" marR="91440" marT="45720" marB="45720" anchor="ctr">
                    <a:lnR w="9525">
                      <a:solidFill>
                        <a:srgbClr val="D5DFE7"/>
                      </a:solidFill>
                      <a:prstDash val="solid"/>
                    </a:lnR>
                    <a:lnB w="9525">
                      <a:solidFill>
                        <a:srgbClr val="D5DFE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3702FBDA-FE31-4268-950F-939046257490}"/>
              </a:ext>
            </a:extLst>
          </p:cNvPr>
          <p:cNvSpPr>
            <a:spLocks xmlns:a="http://schemas.openxmlformats.org/drawingml/2006/main" noGrp="1"/>
          </p:cNvSpPr>
          <p:nvPr/>
        </p:nvSpPr>
        <p:spPr>
          <a:xfrm xmlns:a="http://schemas.openxmlformats.org/drawingml/2006/main">
            <a:off x="7858125" y="1781175"/>
            <a:ext cx="3524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750" b="1">
                <a:solidFill>
                  <a:srgbClr val="002D56"/>
                </a:solidFill>
                <a:latin typeface="Arial"/>
                <a:ea typeface="Arial"/>
                <a:cs typeface="Arial"/>
              </a:defRPr>
            </a:defPPr>
          </a:lstStyle>
          <a:p xmlns:a="http://schemas.openxmlformats.org/drawingml/2006/main">
            <a:pPr>
              <a:defRPr sz="6750" b="1">
                <a:solidFill>
                  <a:srgbClr val="002D56"/>
                </a:solidFill>
                <a:latin typeface="Arial"/>
                <a:ea typeface="Arial"/>
                <a:cs typeface="Arial"/>
              </a:defRPr>
            </a:pPr>
            <a:r>
              <a:rPr sz="6750" b="1">
                <a:solidFill>
                  <a:srgbClr val="002D56"/>
                </a:solidFill>
                <a:latin typeface="Arial"/>
                <a:ea typeface="Arial"/>
                <a:cs typeface="Arial"/>
              </a:rPr>
              <a:t>22</a:t>
            </a:r>
          </a:p>
        </p:txBody>
      </p:sp>
      <p:sp>
        <p:nvSpPr>
          <p:cNvPr id="6" name="text-4">
            <a:extLst xmlns:a="http://schemas.openxmlformats.org/drawingml/2006/main">
              <a:ext uri="{FF2B5EF4-FFF2-40B4-BE49-F238E27FC236}">
                <a16:creationId xmlns:a16="http://schemas.microsoft.com/office/drawing/2014/main" id="{6F063AD5-D369-4B5A-BA6F-D6C73DA54BDC}"/>
              </a:ext>
            </a:extLst>
          </p:cNvPr>
          <p:cNvSpPr>
            <a:spLocks xmlns:a="http://schemas.openxmlformats.org/drawingml/2006/main" noGrp="1"/>
          </p:cNvSpPr>
          <p:nvPr/>
        </p:nvSpPr>
        <p:spPr>
          <a:xfrm xmlns:a="http://schemas.openxmlformats.org/drawingml/2006/main">
            <a:off x="7905750" y="2962275"/>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2D56"/>
                </a:solidFill>
                <a:latin typeface="Arial"/>
                <a:ea typeface="Arial"/>
                <a:cs typeface="Arial"/>
              </a:defRPr>
            </a:defPPr>
          </a:lstStyle>
          <a:p xmlns:a="http://schemas.openxmlformats.org/drawingml/2006/main">
            <a:pPr>
              <a:defRPr sz="2250" b="1">
                <a:solidFill>
                  <a:srgbClr val="002D56"/>
                </a:solidFill>
                <a:latin typeface="Arial"/>
                <a:ea typeface="Arial"/>
                <a:cs typeface="Arial"/>
              </a:defRPr>
            </a:pPr>
            <a:r>
              <a:rPr sz="2250" b="1">
                <a:solidFill>
                  <a:srgbClr val="002D56"/>
                </a:solidFill>
                <a:latin typeface="Arial"/>
                <a:ea typeface="Arial"/>
                <a:cs typeface="Arial"/>
              </a:rPr>
              <a:t>actividades de la</a:t>
            </a:r>
          </a:p>
          <a:p xmlns:a="http://schemas.openxmlformats.org/drawingml/2006/main">
            <a:pPr>
              <a:defRPr sz="2250" b="1">
                <a:solidFill>
                  <a:srgbClr val="002D56"/>
                </a:solidFill>
                <a:latin typeface="Arial"/>
                <a:ea typeface="Arial"/>
                <a:cs typeface="Arial"/>
              </a:defRPr>
            </a:pPr>
            <a:r>
              <a:rPr sz="2250" b="1">
                <a:solidFill>
                  <a:srgbClr val="002D56"/>
                </a:solidFill>
                <a:latin typeface="Arial"/>
                <a:ea typeface="Arial"/>
                <a:cs typeface="Arial"/>
              </a:rPr>
              <a:t>línea base</a:t>
            </a:r>
          </a:p>
        </p:txBody>
      </p:sp>
      <p:sp>
        <p:nvSpPr>
          <p:cNvPr id="7" name="text-5">
            <a:extLst xmlns:a="http://schemas.openxmlformats.org/drawingml/2006/main">
              <a:ext uri="{FF2B5EF4-FFF2-40B4-BE49-F238E27FC236}">
                <a16:creationId xmlns:a16="http://schemas.microsoft.com/office/drawing/2014/main" id="{7A9014B6-E4F8-4529-8293-D36CA2B37594}"/>
              </a:ext>
            </a:extLst>
          </p:cNvPr>
          <p:cNvSpPr>
            <a:spLocks xmlns:a="http://schemas.openxmlformats.org/drawingml/2006/main" noGrp="1"/>
          </p:cNvSpPr>
          <p:nvPr/>
        </p:nvSpPr>
        <p:spPr>
          <a:xfrm xmlns:a="http://schemas.openxmlformats.org/drawingml/2006/main">
            <a:off x="7905750" y="4314825"/>
            <a:ext cx="3571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Las cinco no iniciadas corresponden a semanas posteriores al corte S10.</a:t>
            </a:r>
          </a:p>
        </p:txBody>
      </p:sp>
      <p:sp>
        <p:nvSpPr>
          <p:cNvPr id="8" name="text-6">
            <a:extLst xmlns:a="http://schemas.openxmlformats.org/drawingml/2006/main">
              <a:ext uri="{FF2B5EF4-FFF2-40B4-BE49-F238E27FC236}">
                <a16:creationId xmlns:a16="http://schemas.microsoft.com/office/drawing/2014/main" id="{18CEA373-0253-4B46-B5FE-651CD5C8A9C4}"/>
              </a:ext>
            </a:extLst>
          </p:cNvPr>
          <p:cNvSpPr>
            <a:spLocks xmlns:a="http://schemas.openxmlformats.org/drawingml/2006/main" noGrp="1"/>
          </p:cNvSpPr>
          <p:nvPr/>
        </p:nvSpPr>
        <p:spPr>
          <a:xfrm xmlns:a="http://schemas.openxmlformats.org/drawingml/2006/main">
            <a:off x="609600" y="59817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7"/>
                </a:solidFill>
                <a:latin typeface="Arial"/>
                <a:ea typeface="Arial"/>
                <a:cs typeface="Arial"/>
              </a:defRPr>
            </a:defPPr>
          </a:lstStyle>
          <a:p xmlns:a="http://schemas.openxmlformats.org/drawingml/2006/main">
            <a:pPr>
              <a:defRPr sz="1350" b="0">
                <a:solidFill>
                  <a:srgbClr val="526777"/>
                </a:solidFill>
                <a:latin typeface="Arial"/>
                <a:ea typeface="Arial"/>
                <a:cs typeface="Arial"/>
              </a:defRPr>
            </a:pPr>
            <a:r>
              <a:rPr sz="1350" b="0">
                <a:solidFill>
                  <a:srgbClr val="526777"/>
                </a:solidFill>
                <a:latin typeface="Arial"/>
                <a:ea typeface="Arial"/>
                <a:cs typeface="Arial"/>
              </a:rPr>
              <a:t>Las fechas de la Carta Gantt se mantienen. Código integrado puede conservar revisiones pendientes.</a:t>
            </a:r>
          </a:p>
        </p:txBody>
      </p:sp>
    </p:spTree>
    <p:extLst>
      <p:ext uri="{BB962C8B-B14F-4D97-AF65-F5344CB8AC3E}">
        <p14:creationId xmlns:p14="http://schemas.microsoft.com/office/powerpoint/2010/main" val="2759782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93B296F-FA5C-4143-BAFF-95981810191C}"/>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Ajustes técnicos de la etapa</a:t>
            </a:r>
          </a:p>
        </p:txBody>
      </p:sp>
      <p:sp>
        <p:nvSpPr>
          <p:cNvPr id="2" name="text-1">
            <a:extLst xmlns:a="http://schemas.openxmlformats.org/drawingml/2006/main">
              <a:ext uri="{FF2B5EF4-FFF2-40B4-BE49-F238E27FC236}">
                <a16:creationId xmlns:a16="http://schemas.microsoft.com/office/drawing/2014/main" id="{7DE467C4-BCFF-4B70-8F31-0B69D8348006}"/>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C4677375-2C24-4AC4-88A8-44AF223471FD}"/>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12</a:t>
            </a:r>
          </a:p>
        </p:txBody>
      </p:sp>
      <p:graphicFrame>
        <p:nvGraphicFramePr>
          <p:cNvPr id="4" name="">
            <a:extLst xmlns:a="http://schemas.openxmlformats.org/drawingml/2006/main">
              <a:ext uri="{FF2B5EF4-FFF2-40B4-BE49-F238E27FC236}">
                <a16:creationId xmlns:a16="http://schemas.microsoft.com/office/drawing/2014/main" id="{72AB2019-50C9-4285-AA82-5D51D55B843D}"/>
              </a:ext>
            </a:extLst>
          </p:cNvPr>
          <p:cNvGraphicFramePr/>
          <p:nvPr/>
        </p:nvGraphicFramePr>
        <p:xfrm>
          <a:off xmlns:a="http://schemas.openxmlformats.org/drawingml/2006/main" x="609600" y="1743075"/>
          <a:ext xmlns:a="http://schemas.openxmlformats.org/drawingml/2006/main" cx="10972800" cy="3086100"/>
        </p:xfrm>
        <a:graphic xmlns:a="http://schemas.openxmlformats.org/drawingml/2006/main">
          <a:graphicData uri="http://schemas.openxmlformats.org/drawingml/2006/table">
            <a:tbl>
              <a:tblPr/>
              <a:tblGrid>
                <a:gridCol w="3810000"/>
                <a:gridCol w="7162800"/>
              </a:tblGrid>
              <a:tr h="771525">
                <a:tc>
                  <a:txBody>
                    <a:bodyPr lIns="114300" tIns="114300" rIns="114300" bIns="114300">
                      <a:noAutofit/>
                    </a:bodyPr>
                    <a:lstStyle/>
                    <a:p>
                      <a:r>
                        <a:rPr sz="1875" b="1">
                          <a:solidFill>
                            <a:srgbClr val="FFFFFF"/>
                          </a:solidFill>
                          <a:latin typeface="Arial"/>
                          <a:ea typeface="Arial"/>
                          <a:cs typeface="Arial"/>
                        </a:rPr>
                        <a:t>Decisión</a:t>
                      </a:r>
                    </a:p>
                  </a:txBody>
                  <a:tcPr marL="91440" marR="91440" marT="45720" marB="45720" anchor="ctr">
                    <a:lnL w="9525">
                      <a:solidFill>
                        <a:srgbClr val="D5DFE7"/>
                      </a:solidFill>
                      <a:prstDash val="solid"/>
                    </a:lnL>
                    <a:lnR w="9525">
                      <a:solidFill>
                        <a:srgbClr val="D5DFE7"/>
                      </a:solidFill>
                      <a:prstDash val="solid"/>
                    </a:lnR>
                    <a:lnT w="9525">
                      <a:solidFill>
                        <a:srgbClr val="D5DFE7"/>
                      </a:solidFill>
                      <a:prstDash val="solid"/>
                    </a:lnT>
                    <a:lnB w="9525">
                      <a:solidFill>
                        <a:srgbClr val="D5DFE7"/>
                      </a:solidFill>
                      <a:prstDash val="solid"/>
                    </a:lnB>
                    <a:solidFill>
                      <a:srgbClr val="002D56"/>
                    </a:solidFill>
                  </a:tcPr>
                </a:tc>
                <a:tc>
                  <a:txBody>
                    <a:bodyPr lIns="114300" tIns="114300" rIns="114300" bIns="114300">
                      <a:noAutofit/>
                    </a:bodyPr>
                    <a:lstStyle/>
                    <a:p>
                      <a:r>
                        <a:rPr sz="1875" b="1">
                          <a:solidFill>
                            <a:srgbClr val="FFFFFF"/>
                          </a:solidFill>
                          <a:latin typeface="Arial"/>
                          <a:ea typeface="Arial"/>
                          <a:cs typeface="Arial"/>
                        </a:rPr>
                        <a:t>Aplicación en el Hito 2</a:t>
                      </a:r>
                    </a:p>
                  </a:txBody>
                  <a:tcPr marL="91440" marR="91440" marT="45720" marB="45720" anchor="ctr">
                    <a:lnR w="9525">
                      <a:solidFill>
                        <a:srgbClr val="D5DFE7"/>
                      </a:solidFill>
                      <a:prstDash val="solid"/>
                    </a:lnR>
                    <a:lnT w="9525">
                      <a:solidFill>
                        <a:srgbClr val="D5DFE7"/>
                      </a:solidFill>
                      <a:prstDash val="solid"/>
                    </a:lnT>
                    <a:lnB w="9525">
                      <a:solidFill>
                        <a:srgbClr val="D5DFE7"/>
                      </a:solidFill>
                      <a:prstDash val="solid"/>
                    </a:lnB>
                    <a:solidFill>
                      <a:srgbClr val="002D56"/>
                    </a:solidFill>
                  </a:tcPr>
                </a:tc>
              </a:tr>
              <a:tr h="771525">
                <a:tc>
                  <a:txBody>
                    <a:bodyPr lIns="114300" tIns="114300" rIns="114300" bIns="114300">
                      <a:noAutofit/>
                    </a:bodyPr>
                    <a:lstStyle/>
                    <a:p>
                      <a:r>
                        <a:rPr sz="1875" b="0">
                          <a:solidFill>
                            <a:srgbClr val="17324D"/>
                          </a:solidFill>
                          <a:latin typeface="Arial"/>
                          <a:ea typeface="Arial"/>
                          <a:cs typeface="Arial"/>
                        </a:rPr>
                        <a:t>Electron y caché en disco</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FFFFFF"/>
                    </a:solidFill>
                  </a:tcPr>
                </a:tc>
                <a:tc>
                  <a:txBody>
                    <a:bodyPr lIns="114300" tIns="114300" rIns="114300" bIns="114300">
                      <a:noAutofit/>
                    </a:bodyPr>
                    <a:lstStyle/>
                    <a:p>
                      <a:r>
                        <a:rPr sz="1875" b="0">
                          <a:solidFill>
                            <a:srgbClr val="17324D"/>
                          </a:solidFill>
                          <a:latin typeface="Arial"/>
                          <a:ea typeface="Arial"/>
                          <a:cs typeface="Arial"/>
                        </a:rPr>
                        <a:t>Medios y programación almacenados localmente.</a:t>
                      </a:r>
                    </a:p>
                  </a:txBody>
                  <a:tcPr marL="91440" marR="91440" marT="45720" marB="45720" anchor="ctr">
                    <a:lnR w="9525">
                      <a:solidFill>
                        <a:srgbClr val="D5DFE7"/>
                      </a:solidFill>
                      <a:prstDash val="solid"/>
                    </a:lnR>
                    <a:lnB w="9525">
                      <a:solidFill>
                        <a:srgbClr val="D5DFE7"/>
                      </a:solidFill>
                      <a:prstDash val="solid"/>
                    </a:lnB>
                    <a:solidFill>
                      <a:srgbClr val="FFFFFF"/>
                    </a:solidFill>
                  </a:tcPr>
                </a:tc>
              </a:tr>
              <a:tr h="771525">
                <a:tc>
                  <a:txBody>
                    <a:bodyPr lIns="114300" tIns="114300" rIns="114300" bIns="114300">
                      <a:noAutofit/>
                    </a:bodyPr>
                    <a:lstStyle/>
                    <a:p>
                      <a:r>
                        <a:rPr sz="1875" b="0">
                          <a:solidFill>
                            <a:srgbClr val="17324D"/>
                          </a:solidFill>
                          <a:latin typeface="Arial"/>
                          <a:ea typeface="Arial"/>
                          <a:cs typeface="Arial"/>
                        </a:rPr>
                        <a:t>Sondeo HTTP cada 30 s</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EEF3F7"/>
                    </a:solidFill>
                  </a:tcPr>
                </a:tc>
                <a:tc>
                  <a:txBody>
                    <a:bodyPr lIns="114300" tIns="114300" rIns="114300" bIns="114300">
                      <a:noAutofit/>
                    </a:bodyPr>
                    <a:lstStyle/>
                    <a:p>
                      <a:r>
                        <a:rPr sz="1875" b="0">
                          <a:solidFill>
                            <a:srgbClr val="17324D"/>
                          </a:solidFill>
                          <a:latin typeface="Arial"/>
                          <a:ea typeface="Arial"/>
                          <a:cs typeface="Arial"/>
                        </a:rPr>
                        <a:t>Heartbeat y consulta de cambios del manifiesto.</a:t>
                      </a:r>
                    </a:p>
                  </a:txBody>
                  <a:tcPr marL="91440" marR="91440" marT="45720" marB="45720" anchor="ctr">
                    <a:lnR w="9525">
                      <a:solidFill>
                        <a:srgbClr val="D5DFE7"/>
                      </a:solidFill>
                      <a:prstDash val="solid"/>
                    </a:lnR>
                    <a:lnB w="9525">
                      <a:solidFill>
                        <a:srgbClr val="D5DFE7"/>
                      </a:solidFill>
                      <a:prstDash val="solid"/>
                    </a:lnB>
                    <a:solidFill>
                      <a:srgbClr val="EEF3F7"/>
                    </a:solidFill>
                  </a:tcPr>
                </a:tc>
              </a:tr>
              <a:tr h="771525">
                <a:tc>
                  <a:txBody>
                    <a:bodyPr lIns="114300" tIns="114300" rIns="114300" bIns="114300">
                      <a:noAutofit/>
                    </a:bodyPr>
                    <a:lstStyle/>
                    <a:p>
                      <a:r>
                        <a:rPr sz="1875" b="0">
                          <a:solidFill>
                            <a:srgbClr val="17324D"/>
                          </a:solidFill>
                          <a:latin typeface="Arial"/>
                          <a:ea typeface="Arial"/>
                          <a:cs typeface="Arial"/>
                        </a:rPr>
                        <a:t>Entorno mixto</a:t>
                      </a:r>
                    </a:p>
                  </a:txBody>
                  <a:tcPr marL="91440" marR="91440" marT="45720" marB="45720" anchor="ctr">
                    <a:lnL w="9525">
                      <a:solidFill>
                        <a:srgbClr val="D5DFE7"/>
                      </a:solidFill>
                      <a:prstDash val="solid"/>
                    </a:lnL>
                    <a:lnR w="9525">
                      <a:solidFill>
                        <a:srgbClr val="D5DFE7"/>
                      </a:solidFill>
                      <a:prstDash val="solid"/>
                    </a:lnR>
                    <a:lnB w="9525">
                      <a:solidFill>
                        <a:srgbClr val="D5DFE7"/>
                      </a:solidFill>
                      <a:prstDash val="solid"/>
                    </a:lnB>
                    <a:solidFill>
                      <a:srgbClr val="FFFFFF"/>
                    </a:solidFill>
                  </a:tcPr>
                </a:tc>
                <a:tc>
                  <a:txBody>
                    <a:bodyPr lIns="114300" tIns="114300" rIns="114300" bIns="114300">
                      <a:noAutofit/>
                    </a:bodyPr>
                    <a:lstStyle/>
                    <a:p>
                      <a:r>
                        <a:rPr sz="1875" b="0">
                          <a:solidFill>
                            <a:srgbClr val="17324D"/>
                          </a:solidFill>
                          <a:latin typeface="Arial"/>
                          <a:ea typeface="Arial"/>
                          <a:cs typeface="Arial"/>
                        </a:rPr>
                        <a:t>PHP nativo, MariaDB en Docker y Player nativo.</a:t>
                      </a:r>
                    </a:p>
                  </a:txBody>
                  <a:tcPr marL="91440" marR="91440" marT="45720" marB="45720" anchor="ctr">
                    <a:lnR w="9525">
                      <a:solidFill>
                        <a:srgbClr val="D5DFE7"/>
                      </a:solidFill>
                      <a:prstDash val="solid"/>
                    </a:lnR>
                    <a:lnB w="9525">
                      <a:solidFill>
                        <a:srgbClr val="D5DFE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87063D95-CDD7-4405-9714-54A153FC18CC}"/>
              </a:ext>
            </a:extLst>
          </p:cNvPr>
          <p:cNvSpPr>
            <a:spLocks xmlns:a="http://schemas.openxmlformats.org/drawingml/2006/main" noGrp="1"/>
          </p:cNvSpPr>
          <p:nvPr/>
        </p:nvSpPr>
        <p:spPr>
          <a:xfrm xmlns:a="http://schemas.openxmlformats.org/drawingml/2006/main">
            <a:off x="609600" y="52387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2D56"/>
                </a:solidFill>
                <a:latin typeface="Arial"/>
                <a:ea typeface="Arial"/>
                <a:cs typeface="Arial"/>
              </a:defRPr>
            </a:defPPr>
          </a:lstStyle>
          <a:p xmlns:a="http://schemas.openxmlformats.org/drawingml/2006/main">
            <a:pPr>
              <a:defRPr sz="2100" b="1">
                <a:solidFill>
                  <a:srgbClr val="002D56"/>
                </a:solidFill>
                <a:latin typeface="Arial"/>
                <a:ea typeface="Arial"/>
                <a:cs typeface="Arial"/>
              </a:defRPr>
            </a:pPr>
            <a:r>
              <a:rPr sz="2100" b="1">
                <a:solidFill>
                  <a:srgbClr val="002D56"/>
                </a:solidFill>
                <a:latin typeface="Arial"/>
                <a:ea typeface="Arial"/>
                <a:cs typeface="Arial"/>
              </a:rPr>
              <a:t>Pendiente: Dockerfile del backend y verificación de una instalación reproducible.</a:t>
            </a:r>
          </a:p>
        </p:txBody>
      </p:sp>
    </p:spTree>
    <p:extLst>
      <p:ext uri="{BB962C8B-B14F-4D97-AF65-F5344CB8AC3E}">
        <p14:creationId xmlns:p14="http://schemas.microsoft.com/office/powerpoint/2010/main" val="4448793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BFDC0BAC-2C5D-47EF-B168-0D082F576309}"/>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Trabajo del equipo y aprendizajes</a:t>
            </a:r>
          </a:p>
        </p:txBody>
      </p:sp>
      <p:sp>
        <p:nvSpPr>
          <p:cNvPr id="2" name="text-1">
            <a:extLst xmlns:a="http://schemas.openxmlformats.org/drawingml/2006/main">
              <a:ext uri="{FF2B5EF4-FFF2-40B4-BE49-F238E27FC236}">
                <a16:creationId xmlns:a16="http://schemas.microsoft.com/office/drawing/2014/main" id="{2DA4B745-7336-42E2-A09D-EE01E4331A39}"/>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114D432A-8A82-4121-A2A9-AA97673C5532}"/>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52198329-389F-4996-9BAA-3F031562F2C1}"/>
              </a:ext>
            </a:extLst>
          </p:cNvPr>
          <p:cNvSpPr>
            <a:spLocks xmlns:a="http://schemas.openxmlformats.org/drawingml/2006/main" noGrp="1"/>
          </p:cNvSpPr>
          <p:nvPr/>
        </p:nvSpPr>
        <p:spPr>
          <a:xfrm xmlns:a="http://schemas.openxmlformats.org/drawingml/2006/main">
            <a:off x="609600" y="17430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2D56"/>
                </a:solidFill>
                <a:latin typeface="Arial"/>
                <a:ea typeface="Arial"/>
                <a:cs typeface="Arial"/>
              </a:defRPr>
            </a:defPPr>
          </a:lstStyle>
          <a:p xmlns:a="http://schemas.openxmlformats.org/drawingml/2006/main">
            <a:pPr>
              <a:defRPr sz="2550" b="1">
                <a:solidFill>
                  <a:srgbClr val="002D56"/>
                </a:solidFill>
                <a:latin typeface="Arial"/>
                <a:ea typeface="Arial"/>
                <a:cs typeface="Arial"/>
              </a:defRPr>
            </a:pPr>
            <a:r>
              <a:rPr sz="2550" b="1">
                <a:solidFill>
                  <a:srgbClr val="002D56"/>
                </a:solidFill>
                <a:latin typeface="Arial"/>
                <a:ea typeface="Arial"/>
                <a:cs typeface="Arial"/>
              </a:rPr>
              <a:t>Scrum adaptado</a:t>
            </a:r>
          </a:p>
        </p:txBody>
      </p:sp>
      <p:sp>
        <p:nvSpPr>
          <p:cNvPr id="5" name="text-4">
            <a:extLst xmlns:a="http://schemas.openxmlformats.org/drawingml/2006/main">
              <a:ext uri="{FF2B5EF4-FFF2-40B4-BE49-F238E27FC236}">
                <a16:creationId xmlns:a16="http://schemas.microsoft.com/office/drawing/2014/main" id="{C45441AA-AF95-438C-A3B6-A46C1250E155}"/>
              </a:ext>
            </a:extLst>
          </p:cNvPr>
          <p:cNvSpPr>
            <a:spLocks xmlns:a="http://schemas.openxmlformats.org/drawingml/2006/main" noGrp="1"/>
          </p:cNvSpPr>
          <p:nvPr/>
        </p:nvSpPr>
        <p:spPr>
          <a:xfrm xmlns:a="http://schemas.openxmlformats.org/drawingml/2006/main">
            <a:off x="609600" y="242887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24D"/>
                </a:solidFill>
                <a:latin typeface="Arial"/>
                <a:ea typeface="Arial"/>
                <a:cs typeface="Arial"/>
              </a:defRPr>
            </a:defPPr>
          </a:lstStyle>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Matías: Product Owner</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Tomás: Scrum Master</a:t>
            </a:r>
          </a:p>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Equipo: desarrollo y revisión</a:t>
            </a:r>
          </a:p>
        </p:txBody>
      </p:sp>
      <p:sp>
        <p:nvSpPr>
          <p:cNvPr id="6" name="text-5">
            <a:extLst xmlns:a="http://schemas.openxmlformats.org/drawingml/2006/main">
              <a:ext uri="{FF2B5EF4-FFF2-40B4-BE49-F238E27FC236}">
                <a16:creationId xmlns:a16="http://schemas.microsoft.com/office/drawing/2014/main" id="{86A0DAD7-9178-45E1-94C6-05EA90B7A64C}"/>
              </a:ext>
            </a:extLst>
          </p:cNvPr>
          <p:cNvSpPr>
            <a:spLocks xmlns:a="http://schemas.openxmlformats.org/drawingml/2006/main" noGrp="1"/>
          </p:cNvSpPr>
          <p:nvPr/>
        </p:nvSpPr>
        <p:spPr>
          <a:xfrm xmlns:a="http://schemas.openxmlformats.org/drawingml/2006/main">
            <a:off x="609600" y="42957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324D"/>
                </a:solidFill>
                <a:latin typeface="Arial"/>
                <a:ea typeface="Arial"/>
                <a:cs typeface="Arial"/>
              </a:defRPr>
            </a:defPPr>
          </a:lstStyle>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Tareas, ramas y pull requests conservan la trazabilidad.</a:t>
            </a:r>
          </a:p>
        </p:txBody>
      </p:sp>
      <p:sp>
        <p:nvSpPr>
          <p:cNvPr id="7" name="text-6">
            <a:extLst xmlns:a="http://schemas.openxmlformats.org/drawingml/2006/main">
              <a:ext uri="{FF2B5EF4-FFF2-40B4-BE49-F238E27FC236}">
                <a16:creationId xmlns:a16="http://schemas.microsoft.com/office/drawing/2014/main" id="{D0D1024C-40E6-4EE6-8F33-0B40E36C860E}"/>
              </a:ext>
            </a:extLst>
          </p:cNvPr>
          <p:cNvSpPr>
            <a:spLocks xmlns:a="http://schemas.openxmlformats.org/drawingml/2006/main" noGrp="1"/>
          </p:cNvSpPr>
          <p:nvPr/>
        </p:nvSpPr>
        <p:spPr>
          <a:xfrm xmlns:a="http://schemas.openxmlformats.org/drawingml/2006/main">
            <a:off x="6419850" y="17430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2D56"/>
                </a:solidFill>
                <a:latin typeface="Arial"/>
                <a:ea typeface="Arial"/>
                <a:cs typeface="Arial"/>
              </a:defRPr>
            </a:defPPr>
          </a:lstStyle>
          <a:p xmlns:a="http://schemas.openxmlformats.org/drawingml/2006/main">
            <a:pPr>
              <a:defRPr sz="2550" b="1">
                <a:solidFill>
                  <a:srgbClr val="002D56"/>
                </a:solidFill>
                <a:latin typeface="Arial"/>
                <a:ea typeface="Arial"/>
                <a:cs typeface="Arial"/>
              </a:defRPr>
            </a:pPr>
            <a:r>
              <a:rPr sz="2550" b="1">
                <a:solidFill>
                  <a:srgbClr val="002D56"/>
                </a:solidFill>
                <a:latin typeface="Arial"/>
                <a:ea typeface="Arial"/>
                <a:cs typeface="Arial"/>
              </a:rPr>
              <a:t>Retrospectiva asíncrona</a:t>
            </a:r>
          </a:p>
        </p:txBody>
      </p:sp>
      <p:sp>
        <p:nvSpPr>
          <p:cNvPr id="8" name="text-7">
            <a:extLst xmlns:a="http://schemas.openxmlformats.org/drawingml/2006/main">
              <a:ext uri="{FF2B5EF4-FFF2-40B4-BE49-F238E27FC236}">
                <a16:creationId xmlns:a16="http://schemas.microsoft.com/office/drawing/2014/main" id="{0B8EDF84-F3C4-4970-A3A9-16003FECDADA}"/>
              </a:ext>
            </a:extLst>
          </p:cNvPr>
          <p:cNvSpPr>
            <a:spLocks xmlns:a="http://schemas.openxmlformats.org/drawingml/2006/main" noGrp="1"/>
          </p:cNvSpPr>
          <p:nvPr/>
        </p:nvSpPr>
        <p:spPr>
          <a:xfrm xmlns:a="http://schemas.openxmlformats.org/drawingml/2006/main">
            <a:off x="6419850" y="2428875"/>
            <a:ext cx="5048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24D"/>
                </a:solidFill>
                <a:latin typeface="Arial"/>
                <a:ea typeface="Arial"/>
                <a:cs typeface="Arial"/>
              </a:defRPr>
            </a:defPPr>
          </a:lstStyle>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Distribuir mejor el trabajo y delimitar responsabilidades.</a:t>
            </a:r>
          </a:p>
          <a:p xmlns:a="http://schemas.openxmlformats.org/drawingml/2006/main">
            <a:r>
              <a:t/>
            </a:r>
          </a:p>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Entregar avances antes del plazo.</a:t>
            </a:r>
          </a:p>
          <a:p xmlns:a="http://schemas.openxmlformats.org/drawingml/2006/main">
            <a:r>
              <a:t/>
            </a:r>
          </a:p>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Registrar reuniones y decisiones.</a:t>
            </a:r>
          </a:p>
        </p:txBody>
      </p:sp>
      <p:sp>
        <p:nvSpPr>
          <p:cNvPr id="9" name="text-8">
            <a:extLst xmlns:a="http://schemas.openxmlformats.org/drawingml/2006/main">
              <a:ext uri="{FF2B5EF4-FFF2-40B4-BE49-F238E27FC236}">
                <a16:creationId xmlns:a16="http://schemas.microsoft.com/office/drawing/2014/main" id="{55F942F1-3968-48BF-AC8A-35521A85B916}"/>
              </a:ext>
            </a:extLst>
          </p:cNvPr>
          <p:cNvSpPr>
            <a:spLocks xmlns:a="http://schemas.openxmlformats.org/drawingml/2006/main" noGrp="1"/>
          </p:cNvSpPr>
          <p:nvPr/>
        </p:nvSpPr>
        <p:spPr>
          <a:xfrm xmlns:a="http://schemas.openxmlformats.org/drawingml/2006/main">
            <a:off x="609600" y="59817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777"/>
                </a:solidFill>
                <a:latin typeface="Arial"/>
                <a:ea typeface="Arial"/>
                <a:cs typeface="Arial"/>
              </a:defRPr>
            </a:defPPr>
          </a:lstStyle>
          <a:p xmlns:a="http://schemas.openxmlformats.org/drawingml/2006/main">
            <a:pPr>
              <a:defRPr sz="1350" b="0">
                <a:solidFill>
                  <a:srgbClr val="526777"/>
                </a:solidFill>
                <a:latin typeface="Arial"/>
                <a:ea typeface="Arial"/>
                <a:cs typeface="Arial"/>
              </a:defRPr>
            </a:pPr>
            <a:r>
              <a:rPr sz="1350" b="0">
                <a:solidFill>
                  <a:srgbClr val="526777"/>
                </a:solidFill>
                <a:latin typeface="Arial"/>
                <a:ea typeface="Arial"/>
                <a:cs typeface="Arial"/>
              </a:rPr>
              <a:t>Los sprints se reconstruyeron posteriormente. Las mejoras de la retrospectiva son propuestas del equipo.</a:t>
            </a:r>
          </a:p>
        </p:txBody>
      </p:sp>
    </p:spTree>
    <p:extLst>
      <p:ext uri="{BB962C8B-B14F-4D97-AF65-F5344CB8AC3E}">
        <p14:creationId xmlns:p14="http://schemas.microsoft.com/office/powerpoint/2010/main" val="10745145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28EE91B3-D6AE-4186-A4AE-D1FC73C7D6CA}"/>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2D56"/>
                </a:solidFill>
                <a:latin typeface="Arial"/>
                <a:ea typeface="Arial"/>
                <a:cs typeface="Arial"/>
              </a:defRPr>
            </a:defPPr>
          </a:lstStyle>
          <a:p xmlns:a="http://schemas.openxmlformats.org/drawingml/2006/main">
            <a:pPr>
              <a:defRPr sz="3300" b="1">
                <a:solidFill>
                  <a:srgbClr val="002D56"/>
                </a:solidFill>
                <a:latin typeface="Arial"/>
                <a:ea typeface="Arial"/>
                <a:cs typeface="Arial"/>
              </a:defRPr>
            </a:pPr>
            <a:r>
              <a:rPr sz="3300" b="1">
                <a:solidFill>
                  <a:srgbClr val="002D56"/>
                </a:solidFill>
                <a:latin typeface="Arial"/>
                <a:ea typeface="Arial"/>
                <a:cs typeface="Arial"/>
              </a:rPr>
              <a:t>Prioridades para completar la validación</a:t>
            </a:r>
          </a:p>
        </p:txBody>
      </p:sp>
      <p:sp>
        <p:nvSpPr>
          <p:cNvPr id="2" name="text-1">
            <a:extLst xmlns:a="http://schemas.openxmlformats.org/drawingml/2006/main">
              <a:ext uri="{FF2B5EF4-FFF2-40B4-BE49-F238E27FC236}">
                <a16:creationId xmlns:a16="http://schemas.microsoft.com/office/drawing/2014/main" id="{EE5ABFAF-43C4-4C23-8845-2B4907DF94A3}"/>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777"/>
                </a:solidFill>
                <a:latin typeface="Arial"/>
                <a:ea typeface="Arial"/>
                <a:cs typeface="Arial"/>
              </a:defRPr>
            </a:defPPr>
          </a:lstStyle>
          <a:p xmlns:a="http://schemas.openxmlformats.org/drawingml/2006/main">
            <a:pPr>
              <a:defRPr sz="1200" b="0">
                <a:solidFill>
                  <a:srgbClr val="526777"/>
                </a:solidFill>
                <a:latin typeface="Arial"/>
                <a:ea typeface="Arial"/>
                <a:cs typeface="Arial"/>
              </a:defRPr>
            </a:pPr>
            <a:r>
              <a:rPr sz="1200" b="0">
                <a:solidFill>
                  <a:srgbClr val="526777"/>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ED2BA0BC-EEF0-41B0-B37F-6D05D2C085AC}"/>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2D56"/>
                </a:solidFill>
                <a:latin typeface="Arial"/>
                <a:ea typeface="Arial"/>
                <a:cs typeface="Arial"/>
              </a:defRPr>
            </a:defPPr>
          </a:lstStyle>
          <a:p xmlns:a="http://schemas.openxmlformats.org/drawingml/2006/main">
            <a:pPr>
              <a:defRPr sz="1350" b="1">
                <a:solidFill>
                  <a:srgbClr val="002D56"/>
                </a:solidFill>
                <a:latin typeface="Arial"/>
                <a:ea typeface="Arial"/>
                <a:cs typeface="Arial"/>
              </a:defRPr>
            </a:pPr>
            <a:r>
              <a:rPr sz="1350" b="1">
                <a:solidFill>
                  <a:srgbClr val="002D56"/>
                </a:solidFill>
                <a:latin typeface="Arial"/>
                <a:ea typeface="Arial"/>
                <a:cs typeface="Arial"/>
              </a:rPr>
              <a:t>14</a:t>
            </a:r>
          </a:p>
        </p:txBody>
      </p:sp>
      <p:sp>
        <p:nvSpPr>
          <p:cNvPr id="4" name="text-3">
            <a:extLst xmlns:a="http://schemas.openxmlformats.org/drawingml/2006/main">
              <a:ext uri="{FF2B5EF4-FFF2-40B4-BE49-F238E27FC236}">
                <a16:creationId xmlns:a16="http://schemas.microsoft.com/office/drawing/2014/main" id="{97FA2077-4D7B-4AD2-B8C2-A79D8C6146A3}"/>
              </a:ext>
            </a:extLst>
          </p:cNvPr>
          <p:cNvSpPr>
            <a:spLocks xmlns:a="http://schemas.openxmlformats.org/drawingml/2006/main" noGrp="1"/>
          </p:cNvSpPr>
          <p:nvPr/>
        </p:nvSpPr>
        <p:spPr>
          <a:xfrm xmlns:a="http://schemas.openxmlformats.org/drawingml/2006/main">
            <a:off x="609600" y="162877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02D56"/>
                </a:solidFill>
                <a:latin typeface="Arial"/>
                <a:ea typeface="Arial"/>
                <a:cs typeface="Arial"/>
              </a:defRPr>
            </a:defPPr>
          </a:lstStyle>
          <a:p xmlns:a="http://schemas.openxmlformats.org/drawingml/2006/main">
            <a:pPr>
              <a:defRPr sz="2625" b="1">
                <a:solidFill>
                  <a:srgbClr val="002D56"/>
                </a:solidFill>
                <a:latin typeface="Arial"/>
                <a:ea typeface="Arial"/>
                <a:cs typeface="Arial"/>
              </a:defRPr>
            </a:pPr>
            <a:r>
              <a:rPr sz="2625" b="1">
                <a:solidFill>
                  <a:srgbClr val="002D56"/>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52BABAB6-98C7-44C1-8FBC-DB9778535B1D}"/>
              </a:ext>
            </a:extLst>
          </p:cNvPr>
          <p:cNvSpPr>
            <a:spLocks xmlns:a="http://schemas.openxmlformats.org/drawingml/2006/main" noGrp="1"/>
          </p:cNvSpPr>
          <p:nvPr/>
        </p:nvSpPr>
        <p:spPr>
          <a:xfrm xmlns:a="http://schemas.openxmlformats.org/drawingml/2006/main">
            <a:off x="1600200" y="1628775"/>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Hardware objetivo</a:t>
            </a:r>
          </a:p>
        </p:txBody>
      </p:sp>
      <p:sp>
        <p:nvSpPr>
          <p:cNvPr id="6" name="text-5">
            <a:extLst xmlns:a="http://schemas.openxmlformats.org/drawingml/2006/main">
              <a:ext uri="{FF2B5EF4-FFF2-40B4-BE49-F238E27FC236}">
                <a16:creationId xmlns:a16="http://schemas.microsoft.com/office/drawing/2014/main" id="{0B60EE4B-F05F-450D-B0B9-442B33448043}"/>
              </a:ext>
            </a:extLst>
          </p:cNvPr>
          <p:cNvSpPr>
            <a:spLocks xmlns:a="http://schemas.openxmlformats.org/drawingml/2006/main" noGrp="1"/>
          </p:cNvSpPr>
          <p:nvPr/>
        </p:nvSpPr>
        <p:spPr>
          <a:xfrm xmlns:a="http://schemas.openxmlformats.org/drawingml/2006/main">
            <a:off x="1600200" y="2057400"/>
            <a:ext cx="976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Repetir el recorrido en NUC y comprobar el arranque sin red.</a:t>
            </a:r>
          </a:p>
        </p:txBody>
      </p:sp>
      <p:sp>
        <p:nvSpPr>
          <p:cNvPr id="7" name="text-6">
            <a:extLst xmlns:a="http://schemas.openxmlformats.org/drawingml/2006/main">
              <a:ext uri="{FF2B5EF4-FFF2-40B4-BE49-F238E27FC236}">
                <a16:creationId xmlns:a16="http://schemas.microsoft.com/office/drawing/2014/main" id="{F1B4DFE5-FEF6-4F62-85C0-81140BDB05B7}"/>
              </a:ext>
            </a:extLst>
          </p:cNvPr>
          <p:cNvSpPr>
            <a:spLocks xmlns:a="http://schemas.openxmlformats.org/drawingml/2006/main" noGrp="1"/>
          </p:cNvSpPr>
          <p:nvPr/>
        </p:nvSpPr>
        <p:spPr>
          <a:xfrm xmlns:a="http://schemas.openxmlformats.org/drawingml/2006/main">
            <a:off x="609600" y="267652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02D56"/>
                </a:solidFill>
                <a:latin typeface="Arial"/>
                <a:ea typeface="Arial"/>
                <a:cs typeface="Arial"/>
              </a:defRPr>
            </a:defPPr>
          </a:lstStyle>
          <a:p xmlns:a="http://schemas.openxmlformats.org/drawingml/2006/main">
            <a:pPr>
              <a:defRPr sz="2625" b="1">
                <a:solidFill>
                  <a:srgbClr val="002D56"/>
                </a:solidFill>
                <a:latin typeface="Arial"/>
                <a:ea typeface="Arial"/>
                <a:cs typeface="Arial"/>
              </a:defRPr>
            </a:pPr>
            <a:r>
              <a:rPr sz="2625" b="1">
                <a:solidFill>
                  <a:srgbClr val="002D56"/>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A37F2C5A-9EB7-46D2-A7E5-921117D8CD89}"/>
              </a:ext>
            </a:extLst>
          </p:cNvPr>
          <p:cNvSpPr>
            <a:spLocks xmlns:a="http://schemas.openxmlformats.org/drawingml/2006/main" noGrp="1"/>
          </p:cNvSpPr>
          <p:nvPr/>
        </p:nvSpPr>
        <p:spPr>
          <a:xfrm xmlns:a="http://schemas.openxmlformats.org/drawingml/2006/main">
            <a:off x="1600200" y="2676525"/>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Pruebas adicionales</a:t>
            </a:r>
          </a:p>
        </p:txBody>
      </p:sp>
      <p:sp>
        <p:nvSpPr>
          <p:cNvPr id="9" name="text-8">
            <a:extLst xmlns:a="http://schemas.openxmlformats.org/drawingml/2006/main">
              <a:ext uri="{FF2B5EF4-FFF2-40B4-BE49-F238E27FC236}">
                <a16:creationId xmlns:a16="http://schemas.microsoft.com/office/drawing/2014/main" id="{E4F1D63C-B2A6-4048-B4F8-3A4DFF4490EA}"/>
              </a:ext>
            </a:extLst>
          </p:cNvPr>
          <p:cNvSpPr>
            <a:spLocks xmlns:a="http://schemas.openxmlformats.org/drawingml/2006/main" noGrp="1"/>
          </p:cNvSpPr>
          <p:nvPr/>
        </p:nvSpPr>
        <p:spPr>
          <a:xfrm xmlns:a="http://schemas.openxmlformats.org/drawingml/2006/main">
            <a:off x="1600200" y="3105150"/>
            <a:ext cx="976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Ampliar cortes, formatos y carga con evidencia por caso.</a:t>
            </a:r>
          </a:p>
        </p:txBody>
      </p:sp>
      <p:sp>
        <p:nvSpPr>
          <p:cNvPr id="10" name="text-9">
            <a:extLst xmlns:a="http://schemas.openxmlformats.org/drawingml/2006/main">
              <a:ext uri="{FF2B5EF4-FFF2-40B4-BE49-F238E27FC236}">
                <a16:creationId xmlns:a16="http://schemas.microsoft.com/office/drawing/2014/main" id="{3702D778-4926-41C7-9A6B-27970AFCC314}"/>
              </a:ext>
            </a:extLst>
          </p:cNvPr>
          <p:cNvSpPr>
            <a:spLocks xmlns:a="http://schemas.openxmlformats.org/drawingml/2006/main" noGrp="1"/>
          </p:cNvSpPr>
          <p:nvPr/>
        </p:nvSpPr>
        <p:spPr>
          <a:xfrm xmlns:a="http://schemas.openxmlformats.org/drawingml/2006/main">
            <a:off x="609600" y="372427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02D56"/>
                </a:solidFill>
                <a:latin typeface="Arial"/>
                <a:ea typeface="Arial"/>
                <a:cs typeface="Arial"/>
              </a:defRPr>
            </a:defPPr>
          </a:lstStyle>
          <a:p xmlns:a="http://schemas.openxmlformats.org/drawingml/2006/main">
            <a:pPr>
              <a:defRPr sz="2625" b="1">
                <a:solidFill>
                  <a:srgbClr val="002D56"/>
                </a:solidFill>
                <a:latin typeface="Arial"/>
                <a:ea typeface="Arial"/>
                <a:cs typeface="Arial"/>
              </a:defRPr>
            </a:pPr>
            <a:r>
              <a:rPr sz="2625" b="1">
                <a:solidFill>
                  <a:srgbClr val="002D56"/>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9EA3EF34-CCE6-477F-B6A5-9C93A591B0F6}"/>
              </a:ext>
            </a:extLst>
          </p:cNvPr>
          <p:cNvSpPr>
            <a:spLocks xmlns:a="http://schemas.openxmlformats.org/drawingml/2006/main" noGrp="1"/>
          </p:cNvSpPr>
          <p:nvPr/>
        </p:nvSpPr>
        <p:spPr>
          <a:xfrm xmlns:a="http://schemas.openxmlformats.org/drawingml/2006/main">
            <a:off x="1600200" y="3724275"/>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Instalación y revisión</a:t>
            </a:r>
          </a:p>
        </p:txBody>
      </p:sp>
      <p:sp>
        <p:nvSpPr>
          <p:cNvPr id="12" name="text-11">
            <a:extLst xmlns:a="http://schemas.openxmlformats.org/drawingml/2006/main">
              <a:ext uri="{FF2B5EF4-FFF2-40B4-BE49-F238E27FC236}">
                <a16:creationId xmlns:a16="http://schemas.microsoft.com/office/drawing/2014/main" id="{4260957E-FDA0-4F99-BE32-C5FF39E81418}"/>
              </a:ext>
            </a:extLst>
          </p:cNvPr>
          <p:cNvSpPr>
            <a:spLocks xmlns:a="http://schemas.openxmlformats.org/drawingml/2006/main" noGrp="1"/>
          </p:cNvSpPr>
          <p:nvPr/>
        </p:nvSpPr>
        <p:spPr>
          <a:xfrm xmlns:a="http://schemas.openxmlformats.org/drawingml/2006/main">
            <a:off x="1600200" y="4152900"/>
            <a:ext cx="976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Consolidar el manual, verificar instalación y cerrar revisiones.</a:t>
            </a:r>
          </a:p>
        </p:txBody>
      </p:sp>
      <p:sp>
        <p:nvSpPr>
          <p:cNvPr id="13" name="text-12">
            <a:extLst xmlns:a="http://schemas.openxmlformats.org/drawingml/2006/main">
              <a:ext uri="{FF2B5EF4-FFF2-40B4-BE49-F238E27FC236}">
                <a16:creationId xmlns:a16="http://schemas.microsoft.com/office/drawing/2014/main" id="{ED61AE0C-7C0C-4AD2-B35A-E30B7B76FB71}"/>
              </a:ext>
            </a:extLst>
          </p:cNvPr>
          <p:cNvSpPr>
            <a:spLocks xmlns:a="http://schemas.openxmlformats.org/drawingml/2006/main" noGrp="1"/>
          </p:cNvSpPr>
          <p:nvPr/>
        </p:nvSpPr>
        <p:spPr>
          <a:xfrm xmlns:a="http://schemas.openxmlformats.org/drawingml/2006/main">
            <a:off x="609600" y="477202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02D56"/>
                </a:solidFill>
                <a:latin typeface="Arial"/>
                <a:ea typeface="Arial"/>
                <a:cs typeface="Arial"/>
              </a:defRPr>
            </a:defPPr>
          </a:lstStyle>
          <a:p xmlns:a="http://schemas.openxmlformats.org/drawingml/2006/main">
            <a:pPr>
              <a:defRPr sz="2625" b="1">
                <a:solidFill>
                  <a:srgbClr val="002D56"/>
                </a:solidFill>
                <a:latin typeface="Arial"/>
                <a:ea typeface="Arial"/>
                <a:cs typeface="Arial"/>
              </a:defRPr>
            </a:pPr>
            <a:r>
              <a:rPr sz="2625" b="1">
                <a:solidFill>
                  <a:srgbClr val="002D56"/>
                </a:solidFill>
                <a:latin typeface="Arial"/>
                <a:ea typeface="Arial"/>
                <a:cs typeface="Arial"/>
              </a:rPr>
              <a:t>04</a:t>
            </a:r>
          </a:p>
        </p:txBody>
      </p:sp>
      <p:sp>
        <p:nvSpPr>
          <p:cNvPr id="14" name="text-13">
            <a:extLst xmlns:a="http://schemas.openxmlformats.org/drawingml/2006/main">
              <a:ext uri="{FF2B5EF4-FFF2-40B4-BE49-F238E27FC236}">
                <a16:creationId xmlns:a16="http://schemas.microsoft.com/office/drawing/2014/main" id="{97E469E9-92AE-46BB-B1E9-D2CC19F3B7AD}"/>
              </a:ext>
            </a:extLst>
          </p:cNvPr>
          <p:cNvSpPr>
            <a:spLocks xmlns:a="http://schemas.openxmlformats.org/drawingml/2006/main" noGrp="1"/>
          </p:cNvSpPr>
          <p:nvPr/>
        </p:nvSpPr>
        <p:spPr>
          <a:xfrm xmlns:a="http://schemas.openxmlformats.org/drawingml/2006/main">
            <a:off x="1600200" y="4772025"/>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2D56"/>
                </a:solidFill>
                <a:latin typeface="Arial"/>
                <a:ea typeface="Arial"/>
                <a:cs typeface="Arial"/>
              </a:defRPr>
            </a:defPPr>
          </a:lstStyle>
          <a:p xmlns:a="http://schemas.openxmlformats.org/drawingml/2006/main">
            <a:pPr>
              <a:defRPr sz="2175" b="1">
                <a:solidFill>
                  <a:srgbClr val="002D56"/>
                </a:solidFill>
                <a:latin typeface="Arial"/>
                <a:ea typeface="Arial"/>
                <a:cs typeface="Arial"/>
              </a:defRPr>
            </a:pPr>
            <a:r>
              <a:rPr sz="2175" b="1">
                <a:solidFill>
                  <a:srgbClr val="002D56"/>
                </a:solidFill>
                <a:latin typeface="Arial"/>
                <a:ea typeface="Arial"/>
                <a:cs typeface="Arial"/>
              </a:rPr>
              <a:t>Aceptación con Lumina</a:t>
            </a:r>
          </a:p>
        </p:txBody>
      </p:sp>
      <p:sp>
        <p:nvSpPr>
          <p:cNvPr id="15" name="text-14">
            <a:extLst xmlns:a="http://schemas.openxmlformats.org/drawingml/2006/main">
              <a:ext uri="{FF2B5EF4-FFF2-40B4-BE49-F238E27FC236}">
                <a16:creationId xmlns:a16="http://schemas.microsoft.com/office/drawing/2014/main" id="{7739578C-3DF8-41FB-8734-B3239CEBEA02}"/>
              </a:ext>
            </a:extLst>
          </p:cNvPr>
          <p:cNvSpPr>
            <a:spLocks xmlns:a="http://schemas.openxmlformats.org/drawingml/2006/main" noGrp="1"/>
          </p:cNvSpPr>
          <p:nvPr/>
        </p:nvSpPr>
        <p:spPr>
          <a:xfrm xmlns:a="http://schemas.openxmlformats.org/drawingml/2006/main">
            <a:off x="1600200" y="5200650"/>
            <a:ext cx="976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324D"/>
                </a:solidFill>
                <a:latin typeface="Arial"/>
                <a:ea typeface="Arial"/>
                <a:cs typeface="Arial"/>
              </a:defRPr>
            </a:def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Coordinar casos de uso y registrar resultados con el cliente.</a:t>
            </a:r>
          </a:p>
        </p:txBody>
      </p:sp>
    </p:spTree>
    <p:extLst>
      <p:ext uri="{BB962C8B-B14F-4D97-AF65-F5344CB8AC3E}">
        <p14:creationId xmlns:p14="http://schemas.microsoft.com/office/powerpoint/2010/main" val="60139954"/>
      </p:ext>
    </p:extLst>
  </p:cSld>
</p:sld>
</file>

<file path=ppt/slides/slide15.xml><?xml version="1.0" encoding="utf-8"?>
<p:sld xmlns:p="http://schemas.openxmlformats.org/presentationml/2006/main">
  <p:cSld>
    <p:bg>
      <p:bgPr>
        <a:solidFill xmlns:a="http://schemas.openxmlformats.org/drawingml/2006/main">
          <a:srgbClr val="002D56"/>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F6A78EF-39B8-49E6-924C-12A9368C66D8}"/>
              </a:ext>
            </a:extLst>
          </p:cNvPr>
          <p:cNvSpPr>
            <a:spLocks xmlns:a="http://schemas.openxmlformats.org/drawingml/2006/main" noGrp="1"/>
          </p:cNvSpPr>
          <p:nvPr/>
        </p:nvSpPr>
        <p:spPr>
          <a:xfrm xmlns:a="http://schemas.openxmlformats.org/drawingml/2006/main">
            <a:off x="609600" y="495300"/>
            <a:ext cx="10715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Resultado del avance</a:t>
            </a:r>
          </a:p>
        </p:txBody>
      </p:sp>
      <p:sp>
        <p:nvSpPr>
          <p:cNvPr id="2" name="text-1">
            <a:extLst xmlns:a="http://schemas.openxmlformats.org/drawingml/2006/main">
              <a:ext uri="{FF2B5EF4-FFF2-40B4-BE49-F238E27FC236}">
                <a16:creationId xmlns:a16="http://schemas.microsoft.com/office/drawing/2014/main" id="{E0D897E9-CD8B-4459-A6DC-B799A937A323}"/>
              </a:ext>
            </a:extLst>
          </p:cNvPr>
          <p:cNvSpPr>
            <a:spLocks xmlns:a="http://schemas.openxmlformats.org/drawingml/2006/main" noGrp="1"/>
          </p:cNvSpPr>
          <p:nvPr/>
        </p:nvSpPr>
        <p:spPr>
          <a:xfrm xmlns:a="http://schemas.openxmlformats.org/drawingml/2006/main">
            <a:off x="609600" y="64389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4E3F0"/>
                </a:solidFill>
                <a:latin typeface="Arial"/>
                <a:ea typeface="Arial"/>
                <a:cs typeface="Arial"/>
              </a:defRPr>
            </a:defPPr>
          </a:lstStyle>
          <a:p xmlns:a="http://schemas.openxmlformats.org/drawingml/2006/main">
            <a:pPr>
              <a:defRPr sz="1200" b="0">
                <a:solidFill>
                  <a:srgbClr val="D4E3F0"/>
                </a:solidFill>
                <a:latin typeface="Arial"/>
                <a:ea typeface="Arial"/>
                <a:cs typeface="Arial"/>
              </a:defRPr>
            </a:pPr>
            <a:r>
              <a:rPr sz="1200" b="0">
                <a:solidFill>
                  <a:srgbClr val="D4E3F0"/>
                </a:solidFill>
                <a:latin typeface="Arial"/>
                <a:ea typeface="Arial"/>
                <a:cs typeface="Arial"/>
              </a:rPr>
              <a:t>ACE   /   Avance de Fase 2</a:t>
            </a:r>
          </a:p>
        </p:txBody>
      </p:sp>
      <p:sp>
        <p:nvSpPr>
          <p:cNvPr id="3" name="text-2">
            <a:extLst xmlns:a="http://schemas.openxmlformats.org/drawingml/2006/main">
              <a:ext uri="{FF2B5EF4-FFF2-40B4-BE49-F238E27FC236}">
                <a16:creationId xmlns:a16="http://schemas.microsoft.com/office/drawing/2014/main" id="{7572893F-DE1C-40AD-A89F-E8F2036516C2}"/>
              </a:ext>
            </a:extLst>
          </p:cNvPr>
          <p:cNvSpPr>
            <a:spLocks xmlns:a="http://schemas.openxmlformats.org/drawingml/2006/main" noGrp="1"/>
          </p:cNvSpPr>
          <p:nvPr/>
        </p:nvSpPr>
        <p:spPr>
          <a:xfrm xmlns:a="http://schemas.openxmlformats.org/drawingml/2006/main">
            <a:off x="11001375"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FFB800"/>
                </a:solidFill>
                <a:latin typeface="Arial"/>
                <a:ea typeface="Arial"/>
                <a:cs typeface="Arial"/>
              </a:defRPr>
            </a:defPPr>
          </a:lstStyle>
          <a:p xmlns:a="http://schemas.openxmlformats.org/drawingml/2006/main">
            <a:pPr>
              <a:defRPr sz="1350" b="1">
                <a:solidFill>
                  <a:srgbClr val="FFB800"/>
                </a:solidFill>
                <a:latin typeface="Arial"/>
                <a:ea typeface="Arial"/>
                <a:cs typeface="Arial"/>
              </a:defRPr>
            </a:pPr>
            <a:r>
              <a:rPr sz="1350" b="1">
                <a:solidFill>
                  <a:srgbClr val="FFB800"/>
                </a:solidFill>
                <a:latin typeface="Arial"/>
                <a:ea typeface="Arial"/>
                <a:cs typeface="Arial"/>
              </a:rPr>
              <a:t>15</a:t>
            </a:r>
          </a:p>
        </p:txBody>
      </p:sp>
      <p:sp>
        <p:nvSpPr>
          <p:cNvPr id="4" name="text-3">
            <a:extLst xmlns:a="http://schemas.openxmlformats.org/drawingml/2006/main">
              <a:ext uri="{FF2B5EF4-FFF2-40B4-BE49-F238E27FC236}">
                <a16:creationId xmlns:a16="http://schemas.microsoft.com/office/drawing/2014/main" id="{DEF5BCF0-D88D-4B64-AA30-ECD7BEA3D710}"/>
              </a:ext>
            </a:extLst>
          </p:cNvPr>
          <p:cNvSpPr>
            <a:spLocks xmlns:a="http://schemas.openxmlformats.org/drawingml/2006/main" noGrp="1"/>
          </p:cNvSpPr>
          <p:nvPr/>
        </p:nvSpPr>
        <p:spPr>
          <a:xfrm xmlns:a="http://schemas.openxmlformats.org/drawingml/2006/main">
            <a:off x="609600" y="1800225"/>
            <a:ext cx="10715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FFFFFF"/>
                </a:solidFill>
                <a:latin typeface="Arial"/>
                <a:ea typeface="Arial"/>
                <a:cs typeface="Arial"/>
              </a:defRPr>
            </a:def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Panel, API y Player</a:t>
            </a:r>
          </a:p>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funcionan de punta a punta</a:t>
            </a:r>
          </a:p>
        </p:txBody>
      </p:sp>
      <p:sp>
        <p:nvSpPr>
          <p:cNvPr id="5" name="text-4">
            <a:extLst xmlns:a="http://schemas.openxmlformats.org/drawingml/2006/main">
              <a:ext uri="{FF2B5EF4-FFF2-40B4-BE49-F238E27FC236}">
                <a16:creationId xmlns:a16="http://schemas.microsoft.com/office/drawing/2014/main" id="{6E6980A7-DB62-4415-A6A8-4C0E291E0626}"/>
              </a:ext>
            </a:extLst>
          </p:cNvPr>
          <p:cNvSpPr>
            <a:spLocks xmlns:a="http://schemas.openxmlformats.org/drawingml/2006/main" noGrp="1"/>
          </p:cNvSpPr>
          <p:nvPr/>
        </p:nvSpPr>
        <p:spPr>
          <a:xfrm xmlns:a="http://schemas.openxmlformats.org/drawingml/2006/main">
            <a:off x="647700" y="37052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FFFFFF"/>
                </a:solidFill>
                <a:latin typeface="Arial"/>
                <a:ea typeface="Arial"/>
                <a:cs typeface="Arial"/>
              </a:defRPr>
            </a:defPPr>
          </a:lstStyle>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La reproducción continuó durante</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un corte breve de red en la prueba manual.</a:t>
            </a:r>
          </a:p>
        </p:txBody>
      </p:sp>
      <p:sp>
        <p:nvSpPr>
          <p:cNvPr id="6" name="text-5">
            <a:extLst xmlns:a="http://schemas.openxmlformats.org/drawingml/2006/main">
              <a:ext uri="{FF2B5EF4-FFF2-40B4-BE49-F238E27FC236}">
                <a16:creationId xmlns:a16="http://schemas.microsoft.com/office/drawing/2014/main" id="{EF95425D-696A-4DE1-86EC-C7357E8F0451}"/>
              </a:ext>
            </a:extLst>
          </p:cNvPr>
          <p:cNvSpPr>
            <a:spLocks xmlns:a="http://schemas.openxmlformats.org/drawingml/2006/main" noGrp="1"/>
          </p:cNvSpPr>
          <p:nvPr/>
        </p:nvSpPr>
        <p:spPr>
          <a:xfrm xmlns:a="http://schemas.openxmlformats.org/drawingml/2006/main">
            <a:off x="647700" y="5010150"/>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FB800"/>
                </a:solidFill>
                <a:latin typeface="Arial"/>
                <a:ea typeface="Arial"/>
                <a:cs typeface="Arial"/>
              </a:defRPr>
            </a:defPPr>
          </a:lstStyle>
          <a:p xmlns:a="http://schemas.openxmlformats.org/drawingml/2006/main">
            <a:pPr>
              <a:defRPr sz="2325" b="0">
                <a:solidFill>
                  <a:srgbClr val="FFB800"/>
                </a:solidFill>
                <a:latin typeface="Arial"/>
                <a:ea typeface="Arial"/>
                <a:cs typeface="Arial"/>
              </a:defRPr>
            </a:pPr>
            <a:r>
              <a:rPr sz="2325" b="0">
                <a:solidFill>
                  <a:srgbClr val="FFB800"/>
                </a:solidFill>
                <a:latin typeface="Arial"/>
                <a:ea typeface="Arial"/>
                <a:cs typeface="Arial"/>
              </a:rPr>
              <a:t>El siguiente paso es validar el hardware objetivo</a:t>
            </a:r>
          </a:p>
          <a:p xmlns:a="http://schemas.openxmlformats.org/drawingml/2006/main">
            <a:pPr>
              <a:defRPr sz="2325" b="0">
                <a:solidFill>
                  <a:srgbClr val="FFB800"/>
                </a:solidFill>
                <a:latin typeface="Arial"/>
                <a:ea typeface="Arial"/>
                <a:cs typeface="Arial"/>
              </a:defRPr>
            </a:pPr>
            <a:r>
              <a:rPr sz="2325" b="0">
                <a:solidFill>
                  <a:srgbClr val="FFB800"/>
                </a:solidFill>
                <a:latin typeface="Arial"/>
                <a:ea typeface="Arial"/>
                <a:cs typeface="Arial"/>
              </a:rPr>
              <a:t>y la operación con Lumina Motion.</a:t>
            </a:r>
          </a:p>
        </p:txBody>
      </p:sp>
    </p:spTree>
    <p:extLst>
      <p:ext uri="{BB962C8B-B14F-4D97-AF65-F5344CB8AC3E}">
        <p14:creationId xmlns:p14="http://schemas.microsoft.com/office/powerpoint/2010/main" val="398703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2026-10-16T02:37:17.8640000Z</dcterms:created>
  <dcterms:modified xsi:type="dcterms:W3CDTF">2026-10-16T02:37:17.8640000Z</dcterms:modified>
</coreProperties>
</file>